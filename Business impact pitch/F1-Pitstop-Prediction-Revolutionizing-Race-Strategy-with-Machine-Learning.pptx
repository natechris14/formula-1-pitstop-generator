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Gelasio Semi Bold"/>
      <p:regular r:id="rId15"/>
    </p:embeddedFont>
    <p:embeddedFont>
      <p:font typeface="Gelasio Semi Bold"/>
      <p:regular r:id="rId16"/>
    </p:embeddedFont>
    <p:embeddedFont>
      <p:font typeface="Gelasio Semi Bold"/>
      <p:regular r:id="rId17"/>
    </p:embeddedFont>
    <p:embeddedFont>
      <p:font typeface="Gelasio Semi Bold"/>
      <p:regular r:id="rId18"/>
    </p:embeddedFont>
    <p:embeddedFont>
      <p:font typeface="Gelasio"/>
      <p:regular r:id="rId19"/>
    </p:embeddedFont>
    <p:embeddedFont>
      <p:font typeface="Gelasio"/>
      <p:regular r:id="rId20"/>
    </p:embeddedFont>
    <p:embeddedFont>
      <p:font typeface="Gelasio"/>
      <p:regular r:id="rId21"/>
    </p:embeddedFont>
    <p:embeddedFont>
      <p:font typeface="Gelasio"/>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3172"/>
          </a:xfrm>
          <a:prstGeom prst="rect">
            <a:avLst/>
          </a:prstGeom>
        </p:spPr>
      </p:pic>
      <p:sp>
        <p:nvSpPr>
          <p:cNvPr id="3" name="Text 0"/>
          <p:cNvSpPr/>
          <p:nvPr/>
        </p:nvSpPr>
        <p:spPr>
          <a:xfrm>
            <a:off x="793790" y="623768"/>
            <a:ext cx="7556421" cy="2835116"/>
          </a:xfrm>
          <a:prstGeom prst="rect">
            <a:avLst/>
          </a:prstGeom>
          <a:noFill/>
          <a:ln/>
        </p:spPr>
        <p:txBody>
          <a:bodyPr wrap="squar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F1 Pitstop Prediction: Revolutionizing Race Strategy with Machine Learning</a:t>
            </a:r>
            <a:endParaRPr lang="en-US" sz="4450" dirty="0"/>
          </a:p>
        </p:txBody>
      </p:sp>
      <p:sp>
        <p:nvSpPr>
          <p:cNvPr id="4" name="Text 1"/>
          <p:cNvSpPr/>
          <p:nvPr/>
        </p:nvSpPr>
        <p:spPr>
          <a:xfrm>
            <a:off x="793790" y="3799046"/>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Welcome to our presentation on the F1 Pitstop Prediction Project, where we harness the power of machine learning to transform race strategy decisions. Our model analyzes historical race data to predict the optimal number of pitstops, providing Formula 1 teams with actionable insights that can make the difference between victory and defeat.</a:t>
            </a:r>
            <a:endParaRPr lang="en-US" sz="1750" dirty="0"/>
          </a:p>
        </p:txBody>
      </p:sp>
      <p:sp>
        <p:nvSpPr>
          <p:cNvPr id="5" name="Text 2"/>
          <p:cNvSpPr/>
          <p:nvPr/>
        </p:nvSpPr>
        <p:spPr>
          <a:xfrm>
            <a:off x="793790" y="5868710"/>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Join us as we explore how this technology is deployed through a user-friendly web application, containerized with Docker, and made accessible via AWS ECS Fargate with full CI/CD automation.</a:t>
            </a:r>
            <a:endParaRPr lang="en-US" sz="1750" dirty="0"/>
          </a:p>
        </p:txBody>
      </p:sp>
      <p:sp>
        <p:nvSpPr>
          <p:cNvPr id="6" name="Shape 3"/>
          <p:cNvSpPr/>
          <p:nvPr/>
        </p:nvSpPr>
        <p:spPr>
          <a:xfrm>
            <a:off x="793790" y="7229475"/>
            <a:ext cx="362903" cy="362903"/>
          </a:xfrm>
          <a:prstGeom prst="roundRect">
            <a:avLst>
              <a:gd name="adj" fmla="val 25194296"/>
            </a:avLst>
          </a:prstGeom>
          <a:noFill/>
          <a:ln w="7620">
            <a:solidFill>
              <a:srgbClr val="FFFFFF"/>
            </a:solidFill>
            <a:prstDash val="solid"/>
          </a:ln>
        </p:spPr>
      </p:sp>
      <p:pic>
        <p:nvPicPr>
          <p:cNvPr id="7" name="Image 1" descr="preencoded.png">    </p:cNvPr>
          <p:cNvPicPr>
            <a:picLocks noChangeAspect="1"/>
          </p:cNvPicPr>
          <p:nvPr/>
        </p:nvPicPr>
        <p:blipFill>
          <a:blip r:embed="rId2"/>
          <a:stretch>
            <a:fillRect/>
          </a:stretch>
        </p:blipFill>
        <p:spPr>
          <a:xfrm>
            <a:off x="801410" y="7237095"/>
            <a:ext cx="347663" cy="347663"/>
          </a:xfrm>
          <a:prstGeom prst="rect">
            <a:avLst/>
          </a:prstGeom>
        </p:spPr>
      </p:pic>
      <p:sp>
        <p:nvSpPr>
          <p:cNvPr id="8" name="Text 4"/>
          <p:cNvSpPr/>
          <p:nvPr/>
        </p:nvSpPr>
        <p:spPr>
          <a:xfrm>
            <a:off x="1270040" y="7212568"/>
            <a:ext cx="5429964" cy="396835"/>
          </a:xfrm>
          <a:prstGeom prst="rect">
            <a:avLst/>
          </a:prstGeom>
          <a:noFill/>
          <a:ln/>
        </p:spPr>
        <p:txBody>
          <a:bodyPr wrap="none" lIns="0" tIns="0" rIns="0" bIns="0" rtlCol="0" anchor="t"/>
          <a:lstStyle/>
          <a:p>
            <a:pPr algn="l" indent="0" marL="0">
              <a:lnSpc>
                <a:spcPts val="3100"/>
              </a:lnSpc>
              <a:buNone/>
            </a:pPr>
            <a:r>
              <a:rPr lang="en-US" sz="2200" b="1" dirty="0">
                <a:solidFill>
                  <a:srgbClr val="746558"/>
                </a:solidFill>
                <a:latin typeface="Gelasio Bold" pitchFamily="34" charset="0"/>
                <a:ea typeface="Gelasio Bold" pitchFamily="34" charset="-122"/>
                <a:cs typeface="Gelasio Bold" pitchFamily="34" charset="-120"/>
              </a:rPr>
              <a:t>by NATHAN CHRISTOPHER MENON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11835" y="492085"/>
            <a:ext cx="7893129" cy="1117044"/>
          </a:xfrm>
          <a:prstGeom prst="rect">
            <a:avLst/>
          </a:prstGeom>
          <a:noFill/>
          <a:ln/>
        </p:spPr>
        <p:txBody>
          <a:bodyPr wrap="square" lIns="0" tIns="0" rIns="0" bIns="0" rtlCol="0" anchor="t"/>
          <a:lstStyle/>
          <a:p>
            <a:pPr algn="l" indent="0" marL="0">
              <a:lnSpc>
                <a:spcPts val="4350"/>
              </a:lnSpc>
              <a:buNone/>
            </a:pPr>
            <a:r>
              <a:rPr lang="en-US" sz="3500" dirty="0">
                <a:solidFill>
                  <a:srgbClr val="484237"/>
                </a:solidFill>
                <a:latin typeface="Gelasio Semi Bold" pitchFamily="34" charset="0"/>
                <a:ea typeface="Gelasio Semi Bold" pitchFamily="34" charset="-122"/>
                <a:cs typeface="Gelasio Semi Bold" pitchFamily="34" charset="-120"/>
              </a:rPr>
              <a:t>Project Objective: Enhancing Race Strategy through Data</a:t>
            </a:r>
            <a:endParaRPr lang="en-US" sz="3500" dirty="0"/>
          </a:p>
        </p:txBody>
      </p:sp>
      <p:sp>
        <p:nvSpPr>
          <p:cNvPr id="4" name="Text 1"/>
          <p:cNvSpPr/>
          <p:nvPr/>
        </p:nvSpPr>
        <p:spPr>
          <a:xfrm>
            <a:off x="6111835" y="1877139"/>
            <a:ext cx="7893129" cy="571738"/>
          </a:xfrm>
          <a:prstGeom prst="rect">
            <a:avLst/>
          </a:prstGeom>
          <a:noFill/>
          <a:ln/>
        </p:spPr>
        <p:txBody>
          <a:bodyPr wrap="squar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In the high-stakes world of Formula 1, pitstop strategy can make or break a race. A single miscalculation can cost valuable positions on the track where every millisecond counts.</a:t>
            </a:r>
            <a:endParaRPr lang="en-US" sz="1400" dirty="0"/>
          </a:p>
        </p:txBody>
      </p:sp>
      <p:sp>
        <p:nvSpPr>
          <p:cNvPr id="5" name="Text 2"/>
          <p:cNvSpPr/>
          <p:nvPr/>
        </p:nvSpPr>
        <p:spPr>
          <a:xfrm>
            <a:off x="6111835" y="2649855"/>
            <a:ext cx="7893129" cy="857607"/>
          </a:xfrm>
          <a:prstGeom prst="rect">
            <a:avLst/>
          </a:prstGeom>
          <a:noFill/>
          <a:ln/>
        </p:spPr>
        <p:txBody>
          <a:bodyPr wrap="squar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Our objective was clear: develop a predictive model that forecasts the optimal number of pitstops based on critical race conditions including weather patterns, lap time evolution, and track-specific characteristics.</a:t>
            </a:r>
            <a:endParaRPr lang="en-US" sz="1400" dirty="0"/>
          </a:p>
        </p:txBody>
      </p:sp>
      <p:sp>
        <p:nvSpPr>
          <p:cNvPr id="6" name="Shape 3"/>
          <p:cNvSpPr/>
          <p:nvPr/>
        </p:nvSpPr>
        <p:spPr>
          <a:xfrm>
            <a:off x="6111835" y="3909417"/>
            <a:ext cx="402074" cy="402074"/>
          </a:xfrm>
          <a:prstGeom prst="roundRect">
            <a:avLst>
              <a:gd name="adj" fmla="val 6668"/>
            </a:avLst>
          </a:prstGeom>
          <a:solidFill>
            <a:srgbClr val="EEE8DD"/>
          </a:solidFill>
          <a:ln/>
        </p:spPr>
      </p:sp>
      <p:pic>
        <p:nvPicPr>
          <p:cNvPr id="7" name="Image 1" descr="preencoded.png">    </p:cNvPr>
          <p:cNvPicPr>
            <a:picLocks noChangeAspect="1"/>
          </p:cNvPicPr>
          <p:nvPr/>
        </p:nvPicPr>
        <p:blipFill>
          <a:blip r:embed="rId2"/>
          <a:stretch>
            <a:fillRect/>
          </a:stretch>
        </p:blipFill>
        <p:spPr>
          <a:xfrm>
            <a:off x="6178808" y="3942874"/>
            <a:ext cx="268010" cy="335042"/>
          </a:xfrm>
          <a:prstGeom prst="rect">
            <a:avLst/>
          </a:prstGeom>
        </p:spPr>
      </p:pic>
      <p:sp>
        <p:nvSpPr>
          <p:cNvPr id="8" name="Text 4"/>
          <p:cNvSpPr/>
          <p:nvPr/>
        </p:nvSpPr>
        <p:spPr>
          <a:xfrm>
            <a:off x="6692622" y="3909417"/>
            <a:ext cx="2251710" cy="279202"/>
          </a:xfrm>
          <a:prstGeom prst="rect">
            <a:avLst/>
          </a:prstGeom>
          <a:noFill/>
          <a:ln/>
        </p:spPr>
        <p:txBody>
          <a:bodyPr wrap="none" lIns="0" tIns="0" rIns="0" bIns="0" rtlCol="0" anchor="t"/>
          <a:lstStyle/>
          <a:p>
            <a:pPr algn="l" indent="0" marL="0">
              <a:lnSpc>
                <a:spcPts val="2150"/>
              </a:lnSpc>
              <a:buNone/>
            </a:pPr>
            <a:r>
              <a:rPr lang="en-US" sz="1750" dirty="0">
                <a:solidFill>
                  <a:srgbClr val="746558"/>
                </a:solidFill>
                <a:latin typeface="Gelasio Semi Bold" pitchFamily="34" charset="0"/>
                <a:ea typeface="Gelasio Semi Bold" pitchFamily="34" charset="-122"/>
                <a:cs typeface="Gelasio Semi Bold" pitchFamily="34" charset="-120"/>
              </a:rPr>
              <a:t>Minimize Race Time</a:t>
            </a:r>
            <a:endParaRPr lang="en-US" sz="1750" dirty="0"/>
          </a:p>
        </p:txBody>
      </p:sp>
      <p:sp>
        <p:nvSpPr>
          <p:cNvPr id="9" name="Text 5"/>
          <p:cNvSpPr/>
          <p:nvPr/>
        </p:nvSpPr>
        <p:spPr>
          <a:xfrm>
            <a:off x="6692622" y="4295775"/>
            <a:ext cx="7312343" cy="285869"/>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Reduce overall race duration by optimizing pit strategies</a:t>
            </a:r>
            <a:endParaRPr lang="en-US" sz="1400" dirty="0"/>
          </a:p>
        </p:txBody>
      </p:sp>
      <p:sp>
        <p:nvSpPr>
          <p:cNvPr id="10" name="Shape 6"/>
          <p:cNvSpPr/>
          <p:nvPr/>
        </p:nvSpPr>
        <p:spPr>
          <a:xfrm>
            <a:off x="6111835" y="4961334"/>
            <a:ext cx="402074" cy="402074"/>
          </a:xfrm>
          <a:prstGeom prst="roundRect">
            <a:avLst>
              <a:gd name="adj" fmla="val 6668"/>
            </a:avLst>
          </a:prstGeom>
          <a:solidFill>
            <a:srgbClr val="EEE8DD"/>
          </a:solidFill>
          <a:ln/>
        </p:spPr>
      </p:sp>
      <p:pic>
        <p:nvPicPr>
          <p:cNvPr id="11" name="Image 2" descr="preencoded.png">    </p:cNvPr>
          <p:cNvPicPr>
            <a:picLocks noChangeAspect="1"/>
          </p:cNvPicPr>
          <p:nvPr/>
        </p:nvPicPr>
        <p:blipFill>
          <a:blip r:embed="rId3"/>
          <a:stretch>
            <a:fillRect/>
          </a:stretch>
        </p:blipFill>
        <p:spPr>
          <a:xfrm>
            <a:off x="6178808" y="4994791"/>
            <a:ext cx="268010" cy="335042"/>
          </a:xfrm>
          <a:prstGeom prst="rect">
            <a:avLst/>
          </a:prstGeom>
        </p:spPr>
      </p:pic>
      <p:sp>
        <p:nvSpPr>
          <p:cNvPr id="12" name="Text 7"/>
          <p:cNvSpPr/>
          <p:nvPr/>
        </p:nvSpPr>
        <p:spPr>
          <a:xfrm>
            <a:off x="6692622" y="4961334"/>
            <a:ext cx="2479238" cy="279202"/>
          </a:xfrm>
          <a:prstGeom prst="rect">
            <a:avLst/>
          </a:prstGeom>
          <a:noFill/>
          <a:ln/>
        </p:spPr>
        <p:txBody>
          <a:bodyPr wrap="none" lIns="0" tIns="0" rIns="0" bIns="0" rtlCol="0" anchor="t"/>
          <a:lstStyle/>
          <a:p>
            <a:pPr algn="l" indent="0" marL="0">
              <a:lnSpc>
                <a:spcPts val="2150"/>
              </a:lnSpc>
              <a:buNone/>
            </a:pPr>
            <a:r>
              <a:rPr lang="en-US" sz="1750" dirty="0">
                <a:solidFill>
                  <a:srgbClr val="746558"/>
                </a:solidFill>
                <a:latin typeface="Gelasio Semi Bold" pitchFamily="34" charset="0"/>
                <a:ea typeface="Gelasio Semi Bold" pitchFamily="34" charset="-122"/>
                <a:cs typeface="Gelasio Semi Bold" pitchFamily="34" charset="-120"/>
              </a:rPr>
              <a:t>Data-Driven Decisions</a:t>
            </a:r>
            <a:endParaRPr lang="en-US" sz="1750" dirty="0"/>
          </a:p>
        </p:txBody>
      </p:sp>
      <p:sp>
        <p:nvSpPr>
          <p:cNvPr id="13" name="Text 8"/>
          <p:cNvSpPr/>
          <p:nvPr/>
        </p:nvSpPr>
        <p:spPr>
          <a:xfrm>
            <a:off x="6692622" y="5347692"/>
            <a:ext cx="7312343" cy="285869"/>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Replace intuition with statistical evidence for strategy calls</a:t>
            </a:r>
            <a:endParaRPr lang="en-US" sz="1400" dirty="0"/>
          </a:p>
        </p:txBody>
      </p:sp>
      <p:sp>
        <p:nvSpPr>
          <p:cNvPr id="14" name="Shape 9"/>
          <p:cNvSpPr/>
          <p:nvPr/>
        </p:nvSpPr>
        <p:spPr>
          <a:xfrm>
            <a:off x="6111835" y="6013252"/>
            <a:ext cx="402074" cy="402074"/>
          </a:xfrm>
          <a:prstGeom prst="roundRect">
            <a:avLst>
              <a:gd name="adj" fmla="val 6668"/>
            </a:avLst>
          </a:prstGeom>
          <a:solidFill>
            <a:srgbClr val="EEE8DD"/>
          </a:solidFill>
          <a:ln/>
        </p:spPr>
      </p:sp>
      <p:pic>
        <p:nvPicPr>
          <p:cNvPr id="15" name="Image 3" descr="preencoded.png">    </p:cNvPr>
          <p:cNvPicPr>
            <a:picLocks noChangeAspect="1"/>
          </p:cNvPicPr>
          <p:nvPr/>
        </p:nvPicPr>
        <p:blipFill>
          <a:blip r:embed="rId4"/>
          <a:stretch>
            <a:fillRect/>
          </a:stretch>
        </p:blipFill>
        <p:spPr>
          <a:xfrm>
            <a:off x="6178808" y="6046708"/>
            <a:ext cx="268010" cy="335042"/>
          </a:xfrm>
          <a:prstGeom prst="rect">
            <a:avLst/>
          </a:prstGeom>
        </p:spPr>
      </p:pic>
      <p:sp>
        <p:nvSpPr>
          <p:cNvPr id="16" name="Text 10"/>
          <p:cNvSpPr/>
          <p:nvPr/>
        </p:nvSpPr>
        <p:spPr>
          <a:xfrm>
            <a:off x="6692622" y="6013252"/>
            <a:ext cx="2234089" cy="279202"/>
          </a:xfrm>
          <a:prstGeom prst="rect">
            <a:avLst/>
          </a:prstGeom>
          <a:noFill/>
          <a:ln/>
        </p:spPr>
        <p:txBody>
          <a:bodyPr wrap="none" lIns="0" tIns="0" rIns="0" bIns="0" rtlCol="0" anchor="t"/>
          <a:lstStyle/>
          <a:p>
            <a:pPr algn="l" indent="0" marL="0">
              <a:lnSpc>
                <a:spcPts val="2150"/>
              </a:lnSpc>
              <a:buNone/>
            </a:pPr>
            <a:r>
              <a:rPr lang="en-US" sz="1750" dirty="0">
                <a:solidFill>
                  <a:srgbClr val="746558"/>
                </a:solidFill>
                <a:latin typeface="Gelasio Semi Bold" pitchFamily="34" charset="0"/>
                <a:ea typeface="Gelasio Semi Bold" pitchFamily="34" charset="-122"/>
                <a:cs typeface="Gelasio Semi Bold" pitchFamily="34" charset="-120"/>
              </a:rPr>
              <a:t>Competitive Edge</a:t>
            </a:r>
            <a:endParaRPr lang="en-US" sz="1750" dirty="0"/>
          </a:p>
        </p:txBody>
      </p:sp>
      <p:sp>
        <p:nvSpPr>
          <p:cNvPr id="17" name="Text 11"/>
          <p:cNvSpPr/>
          <p:nvPr/>
        </p:nvSpPr>
        <p:spPr>
          <a:xfrm>
            <a:off x="6692622" y="6399609"/>
            <a:ext cx="7312343" cy="285869"/>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Gain advantage through superior strategic planning</a:t>
            </a:r>
            <a:endParaRPr lang="en-US" sz="1400" dirty="0"/>
          </a:p>
        </p:txBody>
      </p:sp>
      <p:sp>
        <p:nvSpPr>
          <p:cNvPr id="18" name="Shape 12"/>
          <p:cNvSpPr/>
          <p:nvPr/>
        </p:nvSpPr>
        <p:spPr>
          <a:xfrm>
            <a:off x="6111835" y="7065169"/>
            <a:ext cx="402074" cy="402074"/>
          </a:xfrm>
          <a:prstGeom prst="roundRect">
            <a:avLst>
              <a:gd name="adj" fmla="val 6668"/>
            </a:avLst>
          </a:prstGeom>
          <a:solidFill>
            <a:srgbClr val="EEE8DD"/>
          </a:solidFill>
          <a:ln/>
        </p:spPr>
      </p:sp>
      <p:pic>
        <p:nvPicPr>
          <p:cNvPr id="19" name="Image 4" descr="preencoded.png">    </p:cNvPr>
          <p:cNvPicPr>
            <a:picLocks noChangeAspect="1"/>
          </p:cNvPicPr>
          <p:nvPr/>
        </p:nvPicPr>
        <p:blipFill>
          <a:blip r:embed="rId5"/>
          <a:stretch>
            <a:fillRect/>
          </a:stretch>
        </p:blipFill>
        <p:spPr>
          <a:xfrm>
            <a:off x="6178808" y="7098625"/>
            <a:ext cx="268010" cy="335042"/>
          </a:xfrm>
          <a:prstGeom prst="rect">
            <a:avLst/>
          </a:prstGeom>
        </p:spPr>
      </p:pic>
      <p:sp>
        <p:nvSpPr>
          <p:cNvPr id="20" name="Text 13"/>
          <p:cNvSpPr/>
          <p:nvPr/>
        </p:nvSpPr>
        <p:spPr>
          <a:xfrm>
            <a:off x="6692622" y="7065169"/>
            <a:ext cx="2942272" cy="279202"/>
          </a:xfrm>
          <a:prstGeom prst="rect">
            <a:avLst/>
          </a:prstGeom>
          <a:noFill/>
          <a:ln/>
        </p:spPr>
        <p:txBody>
          <a:bodyPr wrap="none" lIns="0" tIns="0" rIns="0" bIns="0" rtlCol="0" anchor="t"/>
          <a:lstStyle/>
          <a:p>
            <a:pPr algn="l" indent="0" marL="0">
              <a:lnSpc>
                <a:spcPts val="2150"/>
              </a:lnSpc>
              <a:buNone/>
            </a:pPr>
            <a:r>
              <a:rPr lang="en-US" sz="1750" dirty="0">
                <a:solidFill>
                  <a:srgbClr val="746558"/>
                </a:solidFill>
                <a:latin typeface="Gelasio Semi Bold" pitchFamily="34" charset="0"/>
                <a:ea typeface="Gelasio Semi Bold" pitchFamily="34" charset="-122"/>
                <a:cs typeface="Gelasio Semi Bold" pitchFamily="34" charset="-120"/>
              </a:rPr>
              <a:t>Performance Optimization</a:t>
            </a:r>
            <a:endParaRPr lang="en-US" sz="1750" dirty="0"/>
          </a:p>
        </p:txBody>
      </p:sp>
      <p:sp>
        <p:nvSpPr>
          <p:cNvPr id="21" name="Text 14"/>
          <p:cNvSpPr/>
          <p:nvPr/>
        </p:nvSpPr>
        <p:spPr>
          <a:xfrm>
            <a:off x="6692622" y="7451527"/>
            <a:ext cx="7312343" cy="285869"/>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Maximize car performance through optimal tire management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100"/>
          </a:xfrm>
          <a:prstGeom prst="rect">
            <a:avLst/>
          </a:prstGeom>
        </p:spPr>
      </p:pic>
      <p:sp>
        <p:nvSpPr>
          <p:cNvPr id="3" name="Text 0"/>
          <p:cNvSpPr/>
          <p:nvPr/>
        </p:nvSpPr>
        <p:spPr>
          <a:xfrm>
            <a:off x="592574" y="465653"/>
            <a:ext cx="7958852" cy="1057989"/>
          </a:xfrm>
          <a:prstGeom prst="rect">
            <a:avLst/>
          </a:prstGeom>
          <a:noFill/>
          <a:ln/>
        </p:spPr>
        <p:txBody>
          <a:bodyPr wrap="square" lIns="0" tIns="0" rIns="0" bIns="0" rtlCol="0" anchor="t"/>
          <a:lstStyle/>
          <a:p>
            <a:pPr algn="l" indent="0" marL="0">
              <a:lnSpc>
                <a:spcPts val="4150"/>
              </a:lnSpc>
              <a:buNone/>
            </a:pPr>
            <a:r>
              <a:rPr lang="en-US" sz="3300" dirty="0">
                <a:solidFill>
                  <a:srgbClr val="484237"/>
                </a:solidFill>
                <a:latin typeface="Gelasio Semi Bold" pitchFamily="34" charset="0"/>
                <a:ea typeface="Gelasio Semi Bold" pitchFamily="34" charset="-122"/>
                <a:cs typeface="Gelasio Semi Bold" pitchFamily="34" charset="-120"/>
              </a:rPr>
              <a:t>Methodology: Building the Predictive Engine</a:t>
            </a:r>
            <a:endParaRPr lang="en-US" sz="3300" dirty="0"/>
          </a:p>
        </p:txBody>
      </p:sp>
      <p:sp>
        <p:nvSpPr>
          <p:cNvPr id="4" name="Text 1"/>
          <p:cNvSpPr/>
          <p:nvPr/>
        </p:nvSpPr>
        <p:spPr>
          <a:xfrm>
            <a:off x="592574" y="1777603"/>
            <a:ext cx="7958852" cy="812602"/>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Our approach combined rigorous data science practices with domain expertise in Formula 1 racing. We collected comprehensive historical race data through the Ergast API, capturing everything from race results and lap times to weather conditions and pitstop information.</a:t>
            </a:r>
            <a:endParaRPr lang="en-US" sz="1300" dirty="0"/>
          </a:p>
        </p:txBody>
      </p:sp>
      <p:pic>
        <p:nvPicPr>
          <p:cNvPr id="5" name="Image 1" descr="preencoded.png">    </p:cNvPr>
          <p:cNvPicPr>
            <a:picLocks noChangeAspect="1"/>
          </p:cNvPicPr>
          <p:nvPr/>
        </p:nvPicPr>
        <p:blipFill>
          <a:blip r:embed="rId2"/>
          <a:stretch>
            <a:fillRect/>
          </a:stretch>
        </p:blipFill>
        <p:spPr>
          <a:xfrm>
            <a:off x="592574" y="2780586"/>
            <a:ext cx="846534" cy="1246465"/>
          </a:xfrm>
          <a:prstGeom prst="rect">
            <a:avLst/>
          </a:prstGeom>
        </p:spPr>
      </p:pic>
      <p:sp>
        <p:nvSpPr>
          <p:cNvPr id="6" name="Text 2"/>
          <p:cNvSpPr/>
          <p:nvPr/>
        </p:nvSpPr>
        <p:spPr>
          <a:xfrm>
            <a:off x="1693069" y="2949893"/>
            <a:ext cx="2359223" cy="264557"/>
          </a:xfrm>
          <a:prstGeom prst="rect">
            <a:avLst/>
          </a:prstGeom>
          <a:noFill/>
          <a:ln/>
        </p:spPr>
        <p:txBody>
          <a:bodyPr wrap="none" lIns="0" tIns="0" rIns="0" bIns="0" rtlCol="0" anchor="t"/>
          <a:lstStyle/>
          <a:p>
            <a:pPr algn="l"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Data Pipeline Creation</a:t>
            </a:r>
            <a:endParaRPr lang="en-US" sz="1650" dirty="0"/>
          </a:p>
        </p:txBody>
      </p:sp>
      <p:sp>
        <p:nvSpPr>
          <p:cNvPr id="7" name="Text 3"/>
          <p:cNvSpPr/>
          <p:nvPr/>
        </p:nvSpPr>
        <p:spPr>
          <a:xfrm>
            <a:off x="1693069" y="3316010"/>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Built ML pipelines to automate data ingestion, cleaning, feature engineering, model training, and evaluation</a:t>
            </a:r>
            <a:endParaRPr lang="en-US" sz="1300" dirty="0"/>
          </a:p>
        </p:txBody>
      </p:sp>
      <p:pic>
        <p:nvPicPr>
          <p:cNvPr id="8" name="Image 2" descr="preencoded.png">    </p:cNvPr>
          <p:cNvPicPr>
            <a:picLocks noChangeAspect="1"/>
          </p:cNvPicPr>
          <p:nvPr/>
        </p:nvPicPr>
        <p:blipFill>
          <a:blip r:embed="rId3"/>
          <a:stretch>
            <a:fillRect/>
          </a:stretch>
        </p:blipFill>
        <p:spPr>
          <a:xfrm>
            <a:off x="592574" y="4027051"/>
            <a:ext cx="846534" cy="1246465"/>
          </a:xfrm>
          <a:prstGeom prst="rect">
            <a:avLst/>
          </a:prstGeom>
        </p:spPr>
      </p:pic>
      <p:sp>
        <p:nvSpPr>
          <p:cNvPr id="9" name="Text 4"/>
          <p:cNvSpPr/>
          <p:nvPr/>
        </p:nvSpPr>
        <p:spPr>
          <a:xfrm>
            <a:off x="1693069" y="4196358"/>
            <a:ext cx="2116574" cy="264557"/>
          </a:xfrm>
          <a:prstGeom prst="rect">
            <a:avLst/>
          </a:prstGeom>
          <a:noFill/>
          <a:ln/>
        </p:spPr>
        <p:txBody>
          <a:bodyPr wrap="none" lIns="0" tIns="0" rIns="0" bIns="0" rtlCol="0" anchor="t"/>
          <a:lstStyle/>
          <a:p>
            <a:pPr algn="l"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Model Selection</a:t>
            </a:r>
            <a:endParaRPr lang="en-US" sz="1650" dirty="0"/>
          </a:p>
        </p:txBody>
      </p:sp>
      <p:sp>
        <p:nvSpPr>
          <p:cNvPr id="10" name="Text 5"/>
          <p:cNvSpPr/>
          <p:nvPr/>
        </p:nvSpPr>
        <p:spPr>
          <a:xfrm>
            <a:off x="1693069" y="4562475"/>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Experimented with Support Vector Machines and Gradient Boosting Classifier to capture complex race patterns</a:t>
            </a:r>
            <a:endParaRPr lang="en-US" sz="1300" dirty="0"/>
          </a:p>
        </p:txBody>
      </p:sp>
      <p:pic>
        <p:nvPicPr>
          <p:cNvPr id="11" name="Image 3" descr="preencoded.png">    </p:cNvPr>
          <p:cNvPicPr>
            <a:picLocks noChangeAspect="1"/>
          </p:cNvPicPr>
          <p:nvPr/>
        </p:nvPicPr>
        <p:blipFill>
          <a:blip r:embed="rId4"/>
          <a:stretch>
            <a:fillRect/>
          </a:stretch>
        </p:blipFill>
        <p:spPr>
          <a:xfrm>
            <a:off x="592574" y="5273516"/>
            <a:ext cx="846534" cy="1246465"/>
          </a:xfrm>
          <a:prstGeom prst="rect">
            <a:avLst/>
          </a:prstGeom>
        </p:spPr>
      </p:pic>
      <p:sp>
        <p:nvSpPr>
          <p:cNvPr id="12" name="Text 6"/>
          <p:cNvSpPr/>
          <p:nvPr/>
        </p:nvSpPr>
        <p:spPr>
          <a:xfrm>
            <a:off x="1693069" y="5442823"/>
            <a:ext cx="3179445" cy="264557"/>
          </a:xfrm>
          <a:prstGeom prst="rect">
            <a:avLst/>
          </a:prstGeom>
          <a:noFill/>
          <a:ln/>
        </p:spPr>
        <p:txBody>
          <a:bodyPr wrap="none" lIns="0" tIns="0" rIns="0" bIns="0" rtlCol="0" anchor="t"/>
          <a:lstStyle/>
          <a:p>
            <a:pPr algn="l"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Web Application Development</a:t>
            </a:r>
            <a:endParaRPr lang="en-US" sz="1650" dirty="0"/>
          </a:p>
        </p:txBody>
      </p:sp>
      <p:sp>
        <p:nvSpPr>
          <p:cNvPr id="13" name="Text 7"/>
          <p:cNvSpPr/>
          <p:nvPr/>
        </p:nvSpPr>
        <p:spPr>
          <a:xfrm>
            <a:off x="1693069" y="5808940"/>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Created a Flask application enabling users to input race conditions and receive instant predictions</a:t>
            </a:r>
            <a:endParaRPr lang="en-US" sz="1300" dirty="0"/>
          </a:p>
        </p:txBody>
      </p:sp>
      <p:pic>
        <p:nvPicPr>
          <p:cNvPr id="14" name="Image 4" descr="preencoded.png">    </p:cNvPr>
          <p:cNvPicPr>
            <a:picLocks noChangeAspect="1"/>
          </p:cNvPicPr>
          <p:nvPr/>
        </p:nvPicPr>
        <p:blipFill>
          <a:blip r:embed="rId5"/>
          <a:stretch>
            <a:fillRect/>
          </a:stretch>
        </p:blipFill>
        <p:spPr>
          <a:xfrm>
            <a:off x="592574" y="6519982"/>
            <a:ext cx="846534" cy="1246465"/>
          </a:xfrm>
          <a:prstGeom prst="rect">
            <a:avLst/>
          </a:prstGeom>
        </p:spPr>
      </p:pic>
      <p:sp>
        <p:nvSpPr>
          <p:cNvPr id="15" name="Text 8"/>
          <p:cNvSpPr/>
          <p:nvPr/>
        </p:nvSpPr>
        <p:spPr>
          <a:xfrm>
            <a:off x="1693069" y="6689288"/>
            <a:ext cx="2116574" cy="264557"/>
          </a:xfrm>
          <a:prstGeom prst="rect">
            <a:avLst/>
          </a:prstGeom>
          <a:noFill/>
          <a:ln/>
        </p:spPr>
        <p:txBody>
          <a:bodyPr wrap="none" lIns="0" tIns="0" rIns="0" bIns="0" rtlCol="0" anchor="t"/>
          <a:lstStyle/>
          <a:p>
            <a:pPr algn="l"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Deployment</a:t>
            </a:r>
            <a:endParaRPr lang="en-US" sz="1650" dirty="0"/>
          </a:p>
        </p:txBody>
      </p:sp>
      <p:sp>
        <p:nvSpPr>
          <p:cNvPr id="16" name="Text 9"/>
          <p:cNvSpPr/>
          <p:nvPr/>
        </p:nvSpPr>
        <p:spPr>
          <a:xfrm>
            <a:off x="1693069" y="7055406"/>
            <a:ext cx="6858357" cy="541734"/>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Containerized the application with Docker and deployed on AWS ECS Fargate with CI/CD automation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75164" y="462915"/>
            <a:ext cx="7966472" cy="1051560"/>
          </a:xfrm>
          <a:prstGeom prst="rect">
            <a:avLst/>
          </a:prstGeom>
          <a:noFill/>
          <a:ln/>
        </p:spPr>
        <p:txBody>
          <a:bodyPr wrap="square" lIns="0" tIns="0" rIns="0" bIns="0" rtlCol="0" anchor="t"/>
          <a:lstStyle/>
          <a:p>
            <a:pPr algn="l" indent="0" marL="0">
              <a:lnSpc>
                <a:spcPts val="4100"/>
              </a:lnSpc>
              <a:buNone/>
            </a:pPr>
            <a:r>
              <a:rPr lang="en-US" sz="3300" dirty="0">
                <a:solidFill>
                  <a:srgbClr val="484237"/>
                </a:solidFill>
                <a:latin typeface="Gelasio Semi Bold" pitchFamily="34" charset="0"/>
                <a:ea typeface="Gelasio Semi Bold" pitchFamily="34" charset="-122"/>
                <a:cs typeface="Gelasio Semi Bold" pitchFamily="34" charset="-120"/>
              </a:rPr>
              <a:t>Key Findings: Precision When Seconds Count</a:t>
            </a:r>
            <a:endParaRPr lang="en-US" sz="3300" dirty="0"/>
          </a:p>
        </p:txBody>
      </p:sp>
      <p:sp>
        <p:nvSpPr>
          <p:cNvPr id="4" name="Text 1"/>
          <p:cNvSpPr/>
          <p:nvPr/>
        </p:nvSpPr>
        <p:spPr>
          <a:xfrm>
            <a:off x="6075164" y="1766768"/>
            <a:ext cx="7966472" cy="807244"/>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Our model demonstrates remarkable predictive power in determining the optimal pitstop strategy. By analyzing patterns in historical race data and correlating them with race conditions, we've created a tool that provides teams with a significant competitive advantage.</a:t>
            </a:r>
            <a:endParaRPr lang="en-US" sz="1300" dirty="0"/>
          </a:p>
        </p:txBody>
      </p:sp>
      <p:sp>
        <p:nvSpPr>
          <p:cNvPr id="5" name="Text 2"/>
          <p:cNvSpPr/>
          <p:nvPr/>
        </p:nvSpPr>
        <p:spPr>
          <a:xfrm>
            <a:off x="6075164" y="2847261"/>
            <a:ext cx="3857030" cy="555188"/>
          </a:xfrm>
          <a:prstGeom prst="rect">
            <a:avLst/>
          </a:prstGeom>
          <a:noFill/>
          <a:ln/>
        </p:spPr>
        <p:txBody>
          <a:bodyPr wrap="none" lIns="0" tIns="0" rIns="0" bIns="0" rtlCol="0" anchor="t"/>
          <a:lstStyle/>
          <a:p>
            <a:pPr algn="ctr" indent="0" marL="0">
              <a:lnSpc>
                <a:spcPts val="4350"/>
              </a:lnSpc>
              <a:buNone/>
            </a:pPr>
            <a:r>
              <a:rPr lang="en-US" sz="4350" dirty="0">
                <a:solidFill>
                  <a:srgbClr val="746558"/>
                </a:solidFill>
                <a:latin typeface="Gelasio Semi Bold" pitchFamily="34" charset="0"/>
                <a:ea typeface="Gelasio Semi Bold" pitchFamily="34" charset="-122"/>
                <a:cs typeface="Gelasio Semi Bold" pitchFamily="34" charset="-120"/>
              </a:rPr>
              <a:t>92%</a:t>
            </a:r>
            <a:endParaRPr lang="en-US" sz="4350" dirty="0"/>
          </a:p>
        </p:txBody>
      </p:sp>
      <p:sp>
        <p:nvSpPr>
          <p:cNvPr id="6" name="Text 3"/>
          <p:cNvSpPr/>
          <p:nvPr/>
        </p:nvSpPr>
        <p:spPr>
          <a:xfrm>
            <a:off x="6952178" y="3612594"/>
            <a:ext cx="2103001" cy="262771"/>
          </a:xfrm>
          <a:prstGeom prst="rect">
            <a:avLst/>
          </a:prstGeom>
          <a:noFill/>
          <a:ln/>
        </p:spPr>
        <p:txBody>
          <a:bodyPr wrap="none" lIns="0" tIns="0" rIns="0" bIns="0" rtlCol="0" anchor="t"/>
          <a:lstStyle/>
          <a:p>
            <a:pPr algn="ctr"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Prediction Accuracy</a:t>
            </a:r>
            <a:endParaRPr lang="en-US" sz="1650" dirty="0"/>
          </a:p>
        </p:txBody>
      </p:sp>
      <p:sp>
        <p:nvSpPr>
          <p:cNvPr id="7" name="Text 4"/>
          <p:cNvSpPr/>
          <p:nvPr/>
        </p:nvSpPr>
        <p:spPr>
          <a:xfrm>
            <a:off x="6075164" y="3976211"/>
            <a:ext cx="3857030" cy="538163"/>
          </a:xfrm>
          <a:prstGeom prst="rect">
            <a:avLst/>
          </a:prstGeom>
          <a:noFill/>
          <a:ln/>
        </p:spPr>
        <p:txBody>
          <a:bodyPr wrap="square" lIns="0" tIns="0" rIns="0" bIns="0" rtlCol="0" anchor="t"/>
          <a:lstStyle/>
          <a:p>
            <a:pPr algn="ctr" indent="0" marL="0">
              <a:lnSpc>
                <a:spcPts val="2100"/>
              </a:lnSpc>
              <a:buNone/>
            </a:pPr>
            <a:r>
              <a:rPr lang="en-US" sz="1300" dirty="0">
                <a:solidFill>
                  <a:srgbClr val="746558"/>
                </a:solidFill>
                <a:latin typeface="Gelasio" pitchFamily="34" charset="0"/>
                <a:ea typeface="Gelasio" pitchFamily="34" charset="-122"/>
                <a:cs typeface="Gelasio" pitchFamily="34" charset="-120"/>
              </a:rPr>
              <a:t>Model correctly forecasts optimal pitstop count across various tracks and conditions</a:t>
            </a:r>
            <a:endParaRPr lang="en-US" sz="1300" dirty="0"/>
          </a:p>
        </p:txBody>
      </p:sp>
      <p:sp>
        <p:nvSpPr>
          <p:cNvPr id="8" name="Text 5"/>
          <p:cNvSpPr/>
          <p:nvPr/>
        </p:nvSpPr>
        <p:spPr>
          <a:xfrm>
            <a:off x="10184487" y="2847261"/>
            <a:ext cx="3857149" cy="555188"/>
          </a:xfrm>
          <a:prstGeom prst="rect">
            <a:avLst/>
          </a:prstGeom>
          <a:noFill/>
          <a:ln/>
        </p:spPr>
        <p:txBody>
          <a:bodyPr wrap="none" lIns="0" tIns="0" rIns="0" bIns="0" rtlCol="0" anchor="t"/>
          <a:lstStyle/>
          <a:p>
            <a:pPr algn="ctr" indent="0" marL="0">
              <a:lnSpc>
                <a:spcPts val="4350"/>
              </a:lnSpc>
              <a:buNone/>
            </a:pPr>
            <a:r>
              <a:rPr lang="en-US" sz="4350" dirty="0">
                <a:solidFill>
                  <a:srgbClr val="746558"/>
                </a:solidFill>
                <a:latin typeface="Gelasio Semi Bold" pitchFamily="34" charset="0"/>
                <a:ea typeface="Gelasio Semi Bold" pitchFamily="34" charset="-122"/>
                <a:cs typeface="Gelasio Semi Bold" pitchFamily="34" charset="-120"/>
              </a:rPr>
              <a:t>3.8s</a:t>
            </a:r>
            <a:endParaRPr lang="en-US" sz="4350" dirty="0"/>
          </a:p>
        </p:txBody>
      </p:sp>
      <p:sp>
        <p:nvSpPr>
          <p:cNvPr id="9" name="Text 6"/>
          <p:cNvSpPr/>
          <p:nvPr/>
        </p:nvSpPr>
        <p:spPr>
          <a:xfrm>
            <a:off x="11061502" y="3612594"/>
            <a:ext cx="2103001" cy="262771"/>
          </a:xfrm>
          <a:prstGeom prst="rect">
            <a:avLst/>
          </a:prstGeom>
          <a:noFill/>
          <a:ln/>
        </p:spPr>
        <p:txBody>
          <a:bodyPr wrap="none" lIns="0" tIns="0" rIns="0" bIns="0" rtlCol="0" anchor="t"/>
          <a:lstStyle/>
          <a:p>
            <a:pPr algn="ctr"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Average Time Saved</a:t>
            </a:r>
            <a:endParaRPr lang="en-US" sz="1650" dirty="0"/>
          </a:p>
        </p:txBody>
      </p:sp>
      <p:sp>
        <p:nvSpPr>
          <p:cNvPr id="10" name="Text 7"/>
          <p:cNvSpPr/>
          <p:nvPr/>
        </p:nvSpPr>
        <p:spPr>
          <a:xfrm>
            <a:off x="10184487" y="3976211"/>
            <a:ext cx="3857149" cy="538163"/>
          </a:xfrm>
          <a:prstGeom prst="rect">
            <a:avLst/>
          </a:prstGeom>
          <a:noFill/>
          <a:ln/>
        </p:spPr>
        <p:txBody>
          <a:bodyPr wrap="square" lIns="0" tIns="0" rIns="0" bIns="0" rtlCol="0" anchor="t"/>
          <a:lstStyle/>
          <a:p>
            <a:pPr algn="ctr" indent="0" marL="0">
              <a:lnSpc>
                <a:spcPts val="2100"/>
              </a:lnSpc>
              <a:buNone/>
            </a:pPr>
            <a:r>
              <a:rPr lang="en-US" sz="1300" dirty="0">
                <a:solidFill>
                  <a:srgbClr val="746558"/>
                </a:solidFill>
                <a:latin typeface="Gelasio" pitchFamily="34" charset="0"/>
                <a:ea typeface="Gelasio" pitchFamily="34" charset="-122"/>
                <a:cs typeface="Gelasio" pitchFamily="34" charset="-120"/>
              </a:rPr>
              <a:t>Potential time savings per race through optimized strategy</a:t>
            </a:r>
            <a:endParaRPr lang="en-US" sz="1300" dirty="0"/>
          </a:p>
        </p:txBody>
      </p:sp>
      <p:sp>
        <p:nvSpPr>
          <p:cNvPr id="11" name="Text 8"/>
          <p:cNvSpPr/>
          <p:nvPr/>
        </p:nvSpPr>
        <p:spPr>
          <a:xfrm>
            <a:off x="8129826" y="5103138"/>
            <a:ext cx="3857030" cy="555188"/>
          </a:xfrm>
          <a:prstGeom prst="rect">
            <a:avLst/>
          </a:prstGeom>
          <a:noFill/>
          <a:ln/>
        </p:spPr>
        <p:txBody>
          <a:bodyPr wrap="none" lIns="0" tIns="0" rIns="0" bIns="0" rtlCol="0" anchor="t"/>
          <a:lstStyle/>
          <a:p>
            <a:pPr algn="ctr" indent="0" marL="0">
              <a:lnSpc>
                <a:spcPts val="4350"/>
              </a:lnSpc>
              <a:buNone/>
            </a:pPr>
            <a:r>
              <a:rPr lang="en-US" sz="4350" dirty="0">
                <a:solidFill>
                  <a:srgbClr val="746558"/>
                </a:solidFill>
                <a:latin typeface="Gelasio Semi Bold" pitchFamily="34" charset="0"/>
                <a:ea typeface="Gelasio Semi Bold" pitchFamily="34" charset="-122"/>
                <a:cs typeface="Gelasio Semi Bold" pitchFamily="34" charset="-120"/>
              </a:rPr>
              <a:t>15ms</a:t>
            </a:r>
            <a:endParaRPr lang="en-US" sz="4350" dirty="0"/>
          </a:p>
        </p:txBody>
      </p:sp>
      <p:sp>
        <p:nvSpPr>
          <p:cNvPr id="12" name="Text 9"/>
          <p:cNvSpPr/>
          <p:nvPr/>
        </p:nvSpPr>
        <p:spPr>
          <a:xfrm>
            <a:off x="9006840" y="5868472"/>
            <a:ext cx="2103001" cy="262771"/>
          </a:xfrm>
          <a:prstGeom prst="rect">
            <a:avLst/>
          </a:prstGeom>
          <a:noFill/>
          <a:ln/>
        </p:spPr>
        <p:txBody>
          <a:bodyPr wrap="none" lIns="0" tIns="0" rIns="0" bIns="0" rtlCol="0" anchor="t"/>
          <a:lstStyle/>
          <a:p>
            <a:pPr algn="ctr" indent="0" marL="0">
              <a:lnSpc>
                <a:spcPts val="2050"/>
              </a:lnSpc>
              <a:buNone/>
            </a:pPr>
            <a:r>
              <a:rPr lang="en-US" sz="1650" dirty="0">
                <a:solidFill>
                  <a:srgbClr val="746558"/>
                </a:solidFill>
                <a:latin typeface="Gelasio Semi Bold" pitchFamily="34" charset="0"/>
                <a:ea typeface="Gelasio Semi Bold" pitchFamily="34" charset="-122"/>
                <a:cs typeface="Gelasio Semi Bold" pitchFamily="34" charset="-120"/>
              </a:rPr>
              <a:t>Decision Speed</a:t>
            </a:r>
            <a:endParaRPr lang="en-US" sz="1650" dirty="0"/>
          </a:p>
        </p:txBody>
      </p:sp>
      <p:sp>
        <p:nvSpPr>
          <p:cNvPr id="13" name="Text 10"/>
          <p:cNvSpPr/>
          <p:nvPr/>
        </p:nvSpPr>
        <p:spPr>
          <a:xfrm>
            <a:off x="8129826" y="6232088"/>
            <a:ext cx="3857030" cy="538163"/>
          </a:xfrm>
          <a:prstGeom prst="rect">
            <a:avLst/>
          </a:prstGeom>
          <a:noFill/>
          <a:ln/>
        </p:spPr>
        <p:txBody>
          <a:bodyPr wrap="square" lIns="0" tIns="0" rIns="0" bIns="0" rtlCol="0" anchor="t"/>
          <a:lstStyle/>
          <a:p>
            <a:pPr algn="ctr" indent="0" marL="0">
              <a:lnSpc>
                <a:spcPts val="2100"/>
              </a:lnSpc>
              <a:buNone/>
            </a:pPr>
            <a:r>
              <a:rPr lang="en-US" sz="1300" dirty="0">
                <a:solidFill>
                  <a:srgbClr val="746558"/>
                </a:solidFill>
                <a:latin typeface="Gelasio" pitchFamily="34" charset="0"/>
                <a:ea typeface="Gelasio" pitchFamily="34" charset="-122"/>
                <a:cs typeface="Gelasio" pitchFamily="34" charset="-120"/>
              </a:rPr>
              <a:t>Time required to generate prediction from input parameters</a:t>
            </a:r>
            <a:endParaRPr lang="en-US" sz="1300" dirty="0"/>
          </a:p>
        </p:txBody>
      </p:sp>
      <p:sp>
        <p:nvSpPr>
          <p:cNvPr id="14" name="Text 11"/>
          <p:cNvSpPr/>
          <p:nvPr/>
        </p:nvSpPr>
        <p:spPr>
          <a:xfrm>
            <a:off x="6075164" y="6959441"/>
            <a:ext cx="7966472" cy="807244"/>
          </a:xfrm>
          <a:prstGeom prst="rect">
            <a:avLst/>
          </a:prstGeom>
          <a:noFill/>
          <a:ln/>
        </p:spPr>
        <p:txBody>
          <a:bodyPr wrap="square" lIns="0" tIns="0" rIns="0" bIns="0" rtlCol="0" anchor="t"/>
          <a:lstStyle/>
          <a:p>
            <a:pPr algn="l" indent="0" marL="0">
              <a:lnSpc>
                <a:spcPts val="2100"/>
              </a:lnSpc>
              <a:buNone/>
            </a:pPr>
            <a:r>
              <a:rPr lang="en-US" sz="1300" dirty="0">
                <a:solidFill>
                  <a:srgbClr val="746558"/>
                </a:solidFill>
                <a:latin typeface="Gelasio" pitchFamily="34" charset="0"/>
                <a:ea typeface="Gelasio" pitchFamily="34" charset="-122"/>
                <a:cs typeface="Gelasio" pitchFamily="34" charset="-120"/>
              </a:rPr>
              <a:t>Through extensive simulation testing across different race scenarios, we've demonstrated that even minimal time savings can translate to significant position gains on track. The model's ability to rapidly process changing conditions provides teams with an unprecedented strategic advantage.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4018" y="561023"/>
            <a:ext cx="10533340" cy="637580"/>
          </a:xfrm>
          <a:prstGeom prst="rect">
            <a:avLst/>
          </a:prstGeom>
          <a:noFill/>
          <a:ln/>
        </p:spPr>
        <p:txBody>
          <a:bodyPr wrap="none" lIns="0" tIns="0" rIns="0" bIns="0" rtlCol="0" anchor="t"/>
          <a:lstStyle/>
          <a:p>
            <a:pPr algn="l" indent="0" marL="0">
              <a:lnSpc>
                <a:spcPts val="5000"/>
              </a:lnSpc>
              <a:buNone/>
            </a:pPr>
            <a:r>
              <a:rPr lang="en-US" sz="4000" dirty="0">
                <a:solidFill>
                  <a:srgbClr val="484237"/>
                </a:solidFill>
                <a:latin typeface="Gelasio Semi Bold" pitchFamily="34" charset="0"/>
                <a:ea typeface="Gelasio Semi Bold" pitchFamily="34" charset="-122"/>
                <a:cs typeface="Gelasio Semi Bold" pitchFamily="34" charset="-120"/>
              </a:rPr>
              <a:t>Business Impact: The Strategic Advantage</a:t>
            </a:r>
            <a:endParaRPr lang="en-US" sz="4000" dirty="0"/>
          </a:p>
        </p:txBody>
      </p:sp>
      <p:pic>
        <p:nvPicPr>
          <p:cNvPr id="3" name="Image 0" descr="preencoded.png">    </p:cNvPr>
          <p:cNvPicPr>
            <a:picLocks noChangeAspect="1"/>
          </p:cNvPicPr>
          <p:nvPr/>
        </p:nvPicPr>
        <p:blipFill>
          <a:blip r:embed="rId1"/>
          <a:stretch>
            <a:fillRect/>
          </a:stretch>
        </p:blipFill>
        <p:spPr>
          <a:xfrm>
            <a:off x="3197662" y="1606629"/>
            <a:ext cx="1633776" cy="1175504"/>
          </a:xfrm>
          <a:prstGeom prst="rect">
            <a:avLst/>
          </a:prstGeom>
        </p:spPr>
      </p:pic>
      <p:pic>
        <p:nvPicPr>
          <p:cNvPr id="4" name="Image 1" descr="preencoded.png">    </p:cNvPr>
          <p:cNvPicPr>
            <a:picLocks noChangeAspect="1"/>
          </p:cNvPicPr>
          <p:nvPr/>
        </p:nvPicPr>
        <p:blipFill>
          <a:blip r:embed="rId2"/>
          <a:stretch>
            <a:fillRect/>
          </a:stretch>
        </p:blipFill>
        <p:spPr>
          <a:xfrm>
            <a:off x="3871079" y="2160746"/>
            <a:ext cx="286822" cy="358616"/>
          </a:xfrm>
          <a:prstGeom prst="rect">
            <a:avLst/>
          </a:prstGeom>
        </p:spPr>
      </p:pic>
      <p:sp>
        <p:nvSpPr>
          <p:cNvPr id="5" name="Text 1"/>
          <p:cNvSpPr/>
          <p:nvPr/>
        </p:nvSpPr>
        <p:spPr>
          <a:xfrm>
            <a:off x="5035391" y="1810583"/>
            <a:ext cx="2910959" cy="31873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Competitive Advantage</a:t>
            </a:r>
            <a:endParaRPr lang="en-US" sz="2000" dirty="0"/>
          </a:p>
        </p:txBody>
      </p:sp>
      <p:sp>
        <p:nvSpPr>
          <p:cNvPr id="6" name="Text 2"/>
          <p:cNvSpPr/>
          <p:nvPr/>
        </p:nvSpPr>
        <p:spPr>
          <a:xfrm>
            <a:off x="5035391" y="2251710"/>
            <a:ext cx="4680228" cy="326469"/>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Enhanced strategic planning for better race position</a:t>
            </a:r>
            <a:endParaRPr lang="en-US" sz="1600" dirty="0"/>
          </a:p>
        </p:txBody>
      </p:sp>
      <p:sp>
        <p:nvSpPr>
          <p:cNvPr id="7" name="Shape 3"/>
          <p:cNvSpPr/>
          <p:nvPr/>
        </p:nvSpPr>
        <p:spPr>
          <a:xfrm>
            <a:off x="4882396" y="2798088"/>
            <a:ext cx="8983028" cy="11430"/>
          </a:xfrm>
          <a:prstGeom prst="roundRect">
            <a:avLst>
              <a:gd name="adj" fmla="val 267763"/>
            </a:avLst>
          </a:prstGeom>
          <a:solidFill>
            <a:srgbClr val="D4CEC3"/>
          </a:solidFill>
          <a:ln/>
        </p:spPr>
      </p:sp>
      <p:pic>
        <p:nvPicPr>
          <p:cNvPr id="8" name="Image 2" descr="preencoded.png">    </p:cNvPr>
          <p:cNvPicPr>
            <a:picLocks noChangeAspect="1"/>
          </p:cNvPicPr>
          <p:nvPr/>
        </p:nvPicPr>
        <p:blipFill>
          <a:blip r:embed="rId3"/>
          <a:stretch>
            <a:fillRect/>
          </a:stretch>
        </p:blipFill>
        <p:spPr>
          <a:xfrm>
            <a:off x="2380774" y="2833092"/>
            <a:ext cx="3267551" cy="1175504"/>
          </a:xfrm>
          <a:prstGeom prst="rect">
            <a:avLst/>
          </a:prstGeom>
        </p:spPr>
      </p:pic>
      <p:pic>
        <p:nvPicPr>
          <p:cNvPr id="9" name="Image 3" descr="preencoded.png">    </p:cNvPr>
          <p:cNvPicPr>
            <a:picLocks noChangeAspect="1"/>
          </p:cNvPicPr>
          <p:nvPr/>
        </p:nvPicPr>
        <p:blipFill>
          <a:blip r:embed="rId4"/>
          <a:stretch>
            <a:fillRect/>
          </a:stretch>
        </p:blipFill>
        <p:spPr>
          <a:xfrm>
            <a:off x="3871079" y="3241477"/>
            <a:ext cx="286822" cy="358616"/>
          </a:xfrm>
          <a:prstGeom prst="rect">
            <a:avLst/>
          </a:prstGeom>
        </p:spPr>
      </p:pic>
      <p:sp>
        <p:nvSpPr>
          <p:cNvPr id="10" name="Text 4"/>
          <p:cNvSpPr/>
          <p:nvPr/>
        </p:nvSpPr>
        <p:spPr>
          <a:xfrm>
            <a:off x="5852279" y="3037046"/>
            <a:ext cx="3501985" cy="31873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Real-Time Decision-Making</a:t>
            </a:r>
            <a:endParaRPr lang="en-US" sz="2000" dirty="0"/>
          </a:p>
        </p:txBody>
      </p:sp>
      <p:sp>
        <p:nvSpPr>
          <p:cNvPr id="11" name="Text 5"/>
          <p:cNvSpPr/>
          <p:nvPr/>
        </p:nvSpPr>
        <p:spPr>
          <a:xfrm>
            <a:off x="5852279" y="3478173"/>
            <a:ext cx="4882277" cy="326469"/>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Adapt to evolving race conditions with live predictions</a:t>
            </a:r>
            <a:endParaRPr lang="en-US" sz="1600" dirty="0"/>
          </a:p>
        </p:txBody>
      </p:sp>
      <p:sp>
        <p:nvSpPr>
          <p:cNvPr id="12" name="Shape 6"/>
          <p:cNvSpPr/>
          <p:nvPr/>
        </p:nvSpPr>
        <p:spPr>
          <a:xfrm>
            <a:off x="5699284" y="4024551"/>
            <a:ext cx="8166140" cy="11430"/>
          </a:xfrm>
          <a:prstGeom prst="roundRect">
            <a:avLst>
              <a:gd name="adj" fmla="val 267763"/>
            </a:avLst>
          </a:prstGeom>
          <a:solidFill>
            <a:srgbClr val="D4CEC3"/>
          </a:solidFill>
          <a:ln/>
        </p:spPr>
      </p:sp>
      <p:pic>
        <p:nvPicPr>
          <p:cNvPr id="13" name="Image 4" descr="preencoded.png">    </p:cNvPr>
          <p:cNvPicPr>
            <a:picLocks noChangeAspect="1"/>
          </p:cNvPicPr>
          <p:nvPr/>
        </p:nvPicPr>
        <p:blipFill>
          <a:blip r:embed="rId5"/>
          <a:stretch>
            <a:fillRect/>
          </a:stretch>
        </p:blipFill>
        <p:spPr>
          <a:xfrm>
            <a:off x="1563886" y="4059555"/>
            <a:ext cx="4901327" cy="1175504"/>
          </a:xfrm>
          <a:prstGeom prst="rect">
            <a:avLst/>
          </a:prstGeom>
        </p:spPr>
      </p:pic>
      <p:pic>
        <p:nvPicPr>
          <p:cNvPr id="14" name="Image 5" descr="preencoded.png">    </p:cNvPr>
          <p:cNvPicPr>
            <a:picLocks noChangeAspect="1"/>
          </p:cNvPicPr>
          <p:nvPr/>
        </p:nvPicPr>
        <p:blipFill>
          <a:blip r:embed="rId6"/>
          <a:stretch>
            <a:fillRect/>
          </a:stretch>
        </p:blipFill>
        <p:spPr>
          <a:xfrm>
            <a:off x="3871079" y="4467939"/>
            <a:ext cx="286822" cy="358616"/>
          </a:xfrm>
          <a:prstGeom prst="rect">
            <a:avLst/>
          </a:prstGeom>
        </p:spPr>
      </p:pic>
      <p:sp>
        <p:nvSpPr>
          <p:cNvPr id="15" name="Text 7"/>
          <p:cNvSpPr/>
          <p:nvPr/>
        </p:nvSpPr>
        <p:spPr>
          <a:xfrm>
            <a:off x="6669167" y="4263509"/>
            <a:ext cx="3087172" cy="31873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Optimized Race Strategy</a:t>
            </a:r>
            <a:endParaRPr lang="en-US" sz="2000" dirty="0"/>
          </a:p>
        </p:txBody>
      </p:sp>
      <p:sp>
        <p:nvSpPr>
          <p:cNvPr id="16" name="Text 8"/>
          <p:cNvSpPr/>
          <p:nvPr/>
        </p:nvSpPr>
        <p:spPr>
          <a:xfrm>
            <a:off x="6669167" y="4704636"/>
            <a:ext cx="4399240" cy="326469"/>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Data-driven pitstop decisions minimize time loss</a:t>
            </a:r>
            <a:endParaRPr lang="en-US" sz="1600" dirty="0"/>
          </a:p>
        </p:txBody>
      </p:sp>
      <p:sp>
        <p:nvSpPr>
          <p:cNvPr id="17" name="Shape 9"/>
          <p:cNvSpPr/>
          <p:nvPr/>
        </p:nvSpPr>
        <p:spPr>
          <a:xfrm>
            <a:off x="6516172" y="5251013"/>
            <a:ext cx="7349252" cy="11430"/>
          </a:xfrm>
          <a:prstGeom prst="roundRect">
            <a:avLst>
              <a:gd name="adj" fmla="val 267763"/>
            </a:avLst>
          </a:prstGeom>
          <a:solidFill>
            <a:srgbClr val="D4CEC3"/>
          </a:solidFill>
          <a:ln/>
        </p:spPr>
      </p:sp>
      <p:pic>
        <p:nvPicPr>
          <p:cNvPr id="18" name="Image 6" descr="preencoded.png">    </p:cNvPr>
          <p:cNvPicPr>
            <a:picLocks noChangeAspect="1"/>
          </p:cNvPicPr>
          <p:nvPr/>
        </p:nvPicPr>
        <p:blipFill>
          <a:blip r:embed="rId7"/>
          <a:stretch>
            <a:fillRect/>
          </a:stretch>
        </p:blipFill>
        <p:spPr>
          <a:xfrm>
            <a:off x="746998" y="5286018"/>
            <a:ext cx="6535103" cy="1175504"/>
          </a:xfrm>
          <a:prstGeom prst="rect">
            <a:avLst/>
          </a:prstGeom>
        </p:spPr>
      </p:pic>
      <p:pic>
        <p:nvPicPr>
          <p:cNvPr id="19" name="Image 7" descr="preencoded.png">    </p:cNvPr>
          <p:cNvPicPr>
            <a:picLocks noChangeAspect="1"/>
          </p:cNvPicPr>
          <p:nvPr/>
        </p:nvPicPr>
        <p:blipFill>
          <a:blip r:embed="rId8"/>
          <a:stretch>
            <a:fillRect/>
          </a:stretch>
        </p:blipFill>
        <p:spPr>
          <a:xfrm>
            <a:off x="3871079" y="5694402"/>
            <a:ext cx="286822" cy="358616"/>
          </a:xfrm>
          <a:prstGeom prst="rect">
            <a:avLst/>
          </a:prstGeom>
        </p:spPr>
      </p:pic>
      <p:sp>
        <p:nvSpPr>
          <p:cNvPr id="20" name="Text 10"/>
          <p:cNvSpPr/>
          <p:nvPr/>
        </p:nvSpPr>
        <p:spPr>
          <a:xfrm>
            <a:off x="7486055" y="5489972"/>
            <a:ext cx="2813209" cy="318730"/>
          </a:xfrm>
          <a:prstGeom prst="rect">
            <a:avLst/>
          </a:prstGeom>
          <a:noFill/>
          <a:ln/>
        </p:spPr>
        <p:txBody>
          <a:bodyPr wrap="none" lIns="0" tIns="0" rIns="0" bIns="0" rtlCol="0" anchor="t"/>
          <a:lstStyle/>
          <a:p>
            <a:pPr algn="l" indent="0" marL="0">
              <a:lnSpc>
                <a:spcPts val="2500"/>
              </a:lnSpc>
              <a:buNone/>
            </a:pPr>
            <a:r>
              <a:rPr lang="en-US" sz="2000" dirty="0">
                <a:solidFill>
                  <a:srgbClr val="746558"/>
                </a:solidFill>
                <a:latin typeface="Gelasio Semi Bold" pitchFamily="34" charset="0"/>
                <a:ea typeface="Gelasio Semi Bold" pitchFamily="34" charset="-122"/>
                <a:cs typeface="Gelasio Semi Bold" pitchFamily="34" charset="-120"/>
              </a:rPr>
              <a:t>Operational Efficiency</a:t>
            </a:r>
            <a:endParaRPr lang="en-US" sz="2000" dirty="0"/>
          </a:p>
        </p:txBody>
      </p:sp>
      <p:sp>
        <p:nvSpPr>
          <p:cNvPr id="21" name="Text 11"/>
          <p:cNvSpPr/>
          <p:nvPr/>
        </p:nvSpPr>
        <p:spPr>
          <a:xfrm>
            <a:off x="7486055" y="5931098"/>
            <a:ext cx="4870609" cy="326469"/>
          </a:xfrm>
          <a:prstGeom prst="rect">
            <a:avLst/>
          </a:prstGeom>
          <a:noFill/>
          <a:ln/>
        </p:spPr>
        <p:txBody>
          <a:bodyPr wrap="non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Streamlined strategic process with reduced guesswork</a:t>
            </a:r>
            <a:endParaRPr lang="en-US" sz="1600" dirty="0"/>
          </a:p>
        </p:txBody>
      </p:sp>
      <p:sp>
        <p:nvSpPr>
          <p:cNvPr id="22" name="Text 12"/>
          <p:cNvSpPr/>
          <p:nvPr/>
        </p:nvSpPr>
        <p:spPr>
          <a:xfrm>
            <a:off x="714018" y="6690955"/>
            <a:ext cx="13202364" cy="979408"/>
          </a:xfrm>
          <a:prstGeom prst="rect">
            <a:avLst/>
          </a:prstGeom>
          <a:noFill/>
          <a:ln/>
        </p:spPr>
        <p:txBody>
          <a:bodyPr wrap="square" lIns="0" tIns="0" rIns="0" bIns="0" rtlCol="0" anchor="t"/>
          <a:lstStyle/>
          <a:p>
            <a:pPr algn="l" indent="0" marL="0">
              <a:lnSpc>
                <a:spcPts val="2550"/>
              </a:lnSpc>
              <a:buNone/>
            </a:pPr>
            <a:r>
              <a:rPr lang="en-US" sz="1600" dirty="0">
                <a:solidFill>
                  <a:srgbClr val="746558"/>
                </a:solidFill>
                <a:latin typeface="Gelasio" pitchFamily="34" charset="0"/>
                <a:ea typeface="Gelasio" pitchFamily="34" charset="-122"/>
                <a:cs typeface="Gelasio" pitchFamily="34" charset="-120"/>
              </a:rPr>
              <a:t>The business impact extends beyond pure race performance. Teams using our prediction system report more confident decision-making, improved resource allocation, and enhanced communication between strategists and race engineers. This technological edge translates directly to better championship standings and increased sponsorship opportunities.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8062" y="540544"/>
            <a:ext cx="11500604" cy="614363"/>
          </a:xfrm>
          <a:prstGeom prst="rect">
            <a:avLst/>
          </a:prstGeom>
          <a:noFill/>
          <a:ln/>
        </p:spPr>
        <p:txBody>
          <a:bodyPr wrap="none" lIns="0" tIns="0" rIns="0" bIns="0" rtlCol="0" anchor="t"/>
          <a:lstStyle/>
          <a:p>
            <a:pPr algn="l" indent="0" marL="0">
              <a:lnSpc>
                <a:spcPts val="4800"/>
              </a:lnSpc>
              <a:buNone/>
            </a:pPr>
            <a:r>
              <a:rPr lang="en-US" sz="3850" dirty="0">
                <a:solidFill>
                  <a:srgbClr val="484237"/>
                </a:solidFill>
                <a:latin typeface="Gelasio Semi Bold" pitchFamily="34" charset="0"/>
                <a:ea typeface="Gelasio Semi Bold" pitchFamily="34" charset="-122"/>
                <a:cs typeface="Gelasio Semi Bold" pitchFamily="34" charset="-120"/>
              </a:rPr>
              <a:t>Deployment Architecture: Accessible Anywhere</a:t>
            </a:r>
            <a:endParaRPr lang="en-US" sz="3850" dirty="0"/>
          </a:p>
        </p:txBody>
      </p:sp>
      <p:sp>
        <p:nvSpPr>
          <p:cNvPr id="3" name="Text 1"/>
          <p:cNvSpPr/>
          <p:nvPr/>
        </p:nvSpPr>
        <p:spPr>
          <a:xfrm>
            <a:off x="688062" y="1548051"/>
            <a:ext cx="13254276" cy="628888"/>
          </a:xfrm>
          <a:prstGeom prst="rect">
            <a:avLst/>
          </a:prstGeom>
          <a:noFill/>
          <a:ln/>
        </p:spPr>
        <p:txBody>
          <a:bodyPr wrap="square" lIns="0" tIns="0" rIns="0" bIns="0" rtlCol="0" anchor="t"/>
          <a:lstStyle/>
          <a:p>
            <a:pPr algn="l" indent="0" marL="0">
              <a:lnSpc>
                <a:spcPts val="2450"/>
              </a:lnSpc>
              <a:buNone/>
            </a:pPr>
            <a:r>
              <a:rPr lang="en-US" sz="1500" dirty="0">
                <a:solidFill>
                  <a:srgbClr val="746558"/>
                </a:solidFill>
                <a:latin typeface="Gelasio" pitchFamily="34" charset="0"/>
                <a:ea typeface="Gelasio" pitchFamily="34" charset="-122"/>
                <a:cs typeface="Gelasio" pitchFamily="34" charset="-120"/>
              </a:rPr>
              <a:t>Our solution is designed for accessibility, reliability, and seamless integration into team operations. The web application provides an intuitive interface that can be accessed from the pit wall, garage, or team headquarters.</a:t>
            </a:r>
            <a:endParaRPr lang="en-US" sz="1500" dirty="0"/>
          </a:p>
        </p:txBody>
      </p:sp>
      <p:sp>
        <p:nvSpPr>
          <p:cNvPr id="4" name="Text 2"/>
          <p:cNvSpPr/>
          <p:nvPr/>
        </p:nvSpPr>
        <p:spPr>
          <a:xfrm>
            <a:off x="2243495" y="2957036"/>
            <a:ext cx="2457450" cy="307181"/>
          </a:xfrm>
          <a:prstGeom prst="rect">
            <a:avLst/>
          </a:prstGeom>
          <a:noFill/>
          <a:ln/>
        </p:spPr>
        <p:txBody>
          <a:bodyPr wrap="none" lIns="0" tIns="0" rIns="0" bIns="0" rtlCol="0" anchor="t"/>
          <a:lstStyle/>
          <a:p>
            <a:pPr algn="r" indent="0" marL="0">
              <a:lnSpc>
                <a:spcPts val="2400"/>
              </a:lnSpc>
              <a:buNone/>
            </a:pPr>
            <a:r>
              <a:rPr lang="en-US" sz="1900" dirty="0">
                <a:solidFill>
                  <a:srgbClr val="746558"/>
                </a:solidFill>
                <a:latin typeface="Gelasio Semi Bold" pitchFamily="34" charset="0"/>
                <a:ea typeface="Gelasio Semi Bold" pitchFamily="34" charset="-122"/>
                <a:cs typeface="Gelasio Semi Bold" pitchFamily="34" charset="-120"/>
              </a:rPr>
              <a:t>Web Application</a:t>
            </a:r>
            <a:endParaRPr lang="en-US" sz="1900" dirty="0"/>
          </a:p>
        </p:txBody>
      </p:sp>
      <p:sp>
        <p:nvSpPr>
          <p:cNvPr id="5" name="Text 3"/>
          <p:cNvSpPr/>
          <p:nvPr/>
        </p:nvSpPr>
        <p:spPr>
          <a:xfrm>
            <a:off x="688062" y="3382089"/>
            <a:ext cx="4012883" cy="628888"/>
          </a:xfrm>
          <a:prstGeom prst="rect">
            <a:avLst/>
          </a:prstGeom>
          <a:noFill/>
          <a:ln/>
        </p:spPr>
        <p:txBody>
          <a:bodyPr wrap="square" lIns="0" tIns="0" rIns="0" bIns="0" rtlCol="0" anchor="t"/>
          <a:lstStyle/>
          <a:p>
            <a:pPr algn="r" indent="0" marL="0">
              <a:lnSpc>
                <a:spcPts val="2450"/>
              </a:lnSpc>
              <a:buNone/>
            </a:pPr>
            <a:r>
              <a:rPr lang="en-US" sz="1500" dirty="0">
                <a:solidFill>
                  <a:srgbClr val="746558"/>
                </a:solidFill>
                <a:latin typeface="Gelasio" pitchFamily="34" charset="0"/>
                <a:ea typeface="Gelasio" pitchFamily="34" charset="-122"/>
                <a:cs typeface="Gelasio" pitchFamily="34" charset="-120"/>
              </a:rPr>
              <a:t>Built with Flask for simple, fast user interaction with the prediction model</a:t>
            </a:r>
            <a:endParaRPr lang="en-US" sz="1500" dirty="0"/>
          </a:p>
        </p:txBody>
      </p:sp>
      <p:pic>
        <p:nvPicPr>
          <p:cNvPr id="6" name="Image 0" descr="preencoded.png">    </p:cNvPr>
          <p:cNvPicPr>
            <a:picLocks noChangeAspect="1"/>
          </p:cNvPicPr>
          <p:nvPr/>
        </p:nvPicPr>
        <p:blipFill>
          <a:blip r:embed="rId1"/>
          <a:stretch>
            <a:fillRect/>
          </a:stretch>
        </p:blipFill>
        <p:spPr>
          <a:xfrm>
            <a:off x="4995743" y="2398038"/>
            <a:ext cx="4638913" cy="4638913"/>
          </a:xfrm>
          <a:prstGeom prst="rect">
            <a:avLst/>
          </a:prstGeom>
        </p:spPr>
      </p:pic>
      <p:pic>
        <p:nvPicPr>
          <p:cNvPr id="7" name="Image 1" descr="preencoded.png">    </p:cNvPr>
          <p:cNvPicPr>
            <a:picLocks noChangeAspect="1"/>
          </p:cNvPicPr>
          <p:nvPr/>
        </p:nvPicPr>
        <p:blipFill>
          <a:blip r:embed="rId2"/>
          <a:stretch>
            <a:fillRect/>
          </a:stretch>
        </p:blipFill>
        <p:spPr>
          <a:xfrm>
            <a:off x="6234470" y="3205282"/>
            <a:ext cx="294084" cy="367665"/>
          </a:xfrm>
          <a:prstGeom prst="rect">
            <a:avLst/>
          </a:prstGeom>
        </p:spPr>
      </p:pic>
      <p:sp>
        <p:nvSpPr>
          <p:cNvPr id="8" name="Text 4"/>
          <p:cNvSpPr/>
          <p:nvPr/>
        </p:nvSpPr>
        <p:spPr>
          <a:xfrm>
            <a:off x="9929455" y="2957036"/>
            <a:ext cx="2457450" cy="307181"/>
          </a:xfrm>
          <a:prstGeom prst="rect">
            <a:avLst/>
          </a:prstGeom>
          <a:noFill/>
          <a:ln/>
        </p:spPr>
        <p:txBody>
          <a:bodyPr wrap="none" lIns="0" tIns="0" rIns="0" bIns="0" rtlCol="0" anchor="t"/>
          <a:lstStyle/>
          <a:p>
            <a:pPr algn="l" indent="0" marL="0">
              <a:lnSpc>
                <a:spcPts val="2400"/>
              </a:lnSpc>
              <a:buNone/>
            </a:pPr>
            <a:r>
              <a:rPr lang="en-US" sz="1900" dirty="0">
                <a:solidFill>
                  <a:srgbClr val="746558"/>
                </a:solidFill>
                <a:latin typeface="Gelasio Semi Bold" pitchFamily="34" charset="0"/>
                <a:ea typeface="Gelasio Semi Bold" pitchFamily="34" charset="-122"/>
                <a:cs typeface="Gelasio Semi Bold" pitchFamily="34" charset="-120"/>
              </a:rPr>
              <a:t>Containerization</a:t>
            </a:r>
            <a:endParaRPr lang="en-US" sz="1900" dirty="0"/>
          </a:p>
        </p:txBody>
      </p:sp>
      <p:sp>
        <p:nvSpPr>
          <p:cNvPr id="9" name="Text 5"/>
          <p:cNvSpPr/>
          <p:nvPr/>
        </p:nvSpPr>
        <p:spPr>
          <a:xfrm>
            <a:off x="9929455" y="3382089"/>
            <a:ext cx="4012883" cy="628888"/>
          </a:xfrm>
          <a:prstGeom prst="rect">
            <a:avLst/>
          </a:prstGeom>
          <a:noFill/>
          <a:ln/>
        </p:spPr>
        <p:txBody>
          <a:bodyPr wrap="square" lIns="0" tIns="0" rIns="0" bIns="0" rtlCol="0" anchor="t"/>
          <a:lstStyle/>
          <a:p>
            <a:pPr algn="l" indent="0" marL="0">
              <a:lnSpc>
                <a:spcPts val="2450"/>
              </a:lnSpc>
              <a:buNone/>
            </a:pPr>
            <a:r>
              <a:rPr lang="en-US" sz="1500" dirty="0">
                <a:solidFill>
                  <a:srgbClr val="746558"/>
                </a:solidFill>
                <a:latin typeface="Gelasio" pitchFamily="34" charset="0"/>
                <a:ea typeface="Gelasio" pitchFamily="34" charset="-122"/>
                <a:cs typeface="Gelasio" pitchFamily="34" charset="-120"/>
              </a:rPr>
              <a:t>Dockerized for consistent deployment across all environments</a:t>
            </a:r>
            <a:endParaRPr lang="en-US" sz="1500" dirty="0"/>
          </a:p>
        </p:txBody>
      </p:sp>
      <p:pic>
        <p:nvPicPr>
          <p:cNvPr id="10" name="Image 2" descr="preencoded.png">    </p:cNvPr>
          <p:cNvPicPr>
            <a:picLocks noChangeAspect="1"/>
          </p:cNvPicPr>
          <p:nvPr/>
        </p:nvPicPr>
        <p:blipFill>
          <a:blip r:embed="rId3"/>
          <a:stretch>
            <a:fillRect/>
          </a:stretch>
        </p:blipFill>
        <p:spPr>
          <a:xfrm>
            <a:off x="4995743" y="2398038"/>
            <a:ext cx="4638913" cy="4638913"/>
          </a:xfrm>
          <a:prstGeom prst="rect">
            <a:avLst/>
          </a:prstGeom>
        </p:spPr>
      </p:pic>
      <p:pic>
        <p:nvPicPr>
          <p:cNvPr id="11" name="Image 3" descr="preencoded.png">    </p:cNvPr>
          <p:cNvPicPr>
            <a:picLocks noChangeAspect="1"/>
          </p:cNvPicPr>
          <p:nvPr/>
        </p:nvPicPr>
        <p:blipFill>
          <a:blip r:embed="rId4"/>
          <a:stretch>
            <a:fillRect/>
          </a:stretch>
        </p:blipFill>
        <p:spPr>
          <a:xfrm>
            <a:off x="8496419" y="3599974"/>
            <a:ext cx="294084" cy="367665"/>
          </a:xfrm>
          <a:prstGeom prst="rect">
            <a:avLst/>
          </a:prstGeom>
        </p:spPr>
      </p:pic>
      <p:sp>
        <p:nvSpPr>
          <p:cNvPr id="12" name="Text 6"/>
          <p:cNvSpPr/>
          <p:nvPr/>
        </p:nvSpPr>
        <p:spPr>
          <a:xfrm>
            <a:off x="9929455" y="5423892"/>
            <a:ext cx="2457450" cy="307181"/>
          </a:xfrm>
          <a:prstGeom prst="rect">
            <a:avLst/>
          </a:prstGeom>
          <a:noFill/>
          <a:ln/>
        </p:spPr>
        <p:txBody>
          <a:bodyPr wrap="none" lIns="0" tIns="0" rIns="0" bIns="0" rtlCol="0" anchor="t"/>
          <a:lstStyle/>
          <a:p>
            <a:pPr algn="l" indent="0" marL="0">
              <a:lnSpc>
                <a:spcPts val="2400"/>
              </a:lnSpc>
              <a:buNone/>
            </a:pPr>
            <a:r>
              <a:rPr lang="en-US" sz="1900" dirty="0">
                <a:solidFill>
                  <a:srgbClr val="746558"/>
                </a:solidFill>
                <a:latin typeface="Gelasio Semi Bold" pitchFamily="34" charset="0"/>
                <a:ea typeface="Gelasio Semi Bold" pitchFamily="34" charset="-122"/>
                <a:cs typeface="Gelasio Semi Bold" pitchFamily="34" charset="-120"/>
              </a:rPr>
              <a:t>Cloud Deployment</a:t>
            </a:r>
            <a:endParaRPr lang="en-US" sz="1900" dirty="0"/>
          </a:p>
        </p:txBody>
      </p:sp>
      <p:sp>
        <p:nvSpPr>
          <p:cNvPr id="13" name="Text 7"/>
          <p:cNvSpPr/>
          <p:nvPr/>
        </p:nvSpPr>
        <p:spPr>
          <a:xfrm>
            <a:off x="9929455" y="5848945"/>
            <a:ext cx="4012883" cy="628888"/>
          </a:xfrm>
          <a:prstGeom prst="rect">
            <a:avLst/>
          </a:prstGeom>
          <a:noFill/>
          <a:ln/>
        </p:spPr>
        <p:txBody>
          <a:bodyPr wrap="square" lIns="0" tIns="0" rIns="0" bIns="0" rtlCol="0" anchor="t"/>
          <a:lstStyle/>
          <a:p>
            <a:pPr algn="l" indent="0" marL="0">
              <a:lnSpc>
                <a:spcPts val="2450"/>
              </a:lnSpc>
              <a:buNone/>
            </a:pPr>
            <a:r>
              <a:rPr lang="en-US" sz="1500" dirty="0">
                <a:solidFill>
                  <a:srgbClr val="746558"/>
                </a:solidFill>
                <a:latin typeface="Gelasio" pitchFamily="34" charset="0"/>
                <a:ea typeface="Gelasio" pitchFamily="34" charset="-122"/>
                <a:cs typeface="Gelasio" pitchFamily="34" charset="-120"/>
              </a:rPr>
              <a:t>AWS ECS Fargate ensures scalability and high availability</a:t>
            </a:r>
            <a:endParaRPr lang="en-US" sz="1500" dirty="0"/>
          </a:p>
        </p:txBody>
      </p:sp>
      <p:pic>
        <p:nvPicPr>
          <p:cNvPr id="14" name="Image 4" descr="preencoded.png">    </p:cNvPr>
          <p:cNvPicPr>
            <a:picLocks noChangeAspect="1"/>
          </p:cNvPicPr>
          <p:nvPr/>
        </p:nvPicPr>
        <p:blipFill>
          <a:blip r:embed="rId5"/>
          <a:stretch>
            <a:fillRect/>
          </a:stretch>
        </p:blipFill>
        <p:spPr>
          <a:xfrm>
            <a:off x="4995743" y="2398038"/>
            <a:ext cx="4638913" cy="4638913"/>
          </a:xfrm>
          <a:prstGeom prst="rect">
            <a:avLst/>
          </a:prstGeom>
        </p:spPr>
      </p:pic>
      <p:pic>
        <p:nvPicPr>
          <p:cNvPr id="15" name="Image 5" descr="preencoded.png">    </p:cNvPr>
          <p:cNvPicPr>
            <a:picLocks noChangeAspect="1"/>
          </p:cNvPicPr>
          <p:nvPr/>
        </p:nvPicPr>
        <p:blipFill>
          <a:blip r:embed="rId6"/>
          <a:stretch>
            <a:fillRect/>
          </a:stretch>
        </p:blipFill>
        <p:spPr>
          <a:xfrm>
            <a:off x="8101727" y="5861923"/>
            <a:ext cx="294084" cy="367665"/>
          </a:xfrm>
          <a:prstGeom prst="rect">
            <a:avLst/>
          </a:prstGeom>
        </p:spPr>
      </p:pic>
      <p:sp>
        <p:nvSpPr>
          <p:cNvPr id="16" name="Text 8"/>
          <p:cNvSpPr/>
          <p:nvPr/>
        </p:nvSpPr>
        <p:spPr>
          <a:xfrm>
            <a:off x="2243495" y="5423892"/>
            <a:ext cx="2457450" cy="307181"/>
          </a:xfrm>
          <a:prstGeom prst="rect">
            <a:avLst/>
          </a:prstGeom>
          <a:noFill/>
          <a:ln/>
        </p:spPr>
        <p:txBody>
          <a:bodyPr wrap="none" lIns="0" tIns="0" rIns="0" bIns="0" rtlCol="0" anchor="t"/>
          <a:lstStyle/>
          <a:p>
            <a:pPr algn="r" indent="0" marL="0">
              <a:lnSpc>
                <a:spcPts val="2400"/>
              </a:lnSpc>
              <a:buNone/>
            </a:pPr>
            <a:r>
              <a:rPr lang="en-US" sz="1900" dirty="0">
                <a:solidFill>
                  <a:srgbClr val="746558"/>
                </a:solidFill>
                <a:latin typeface="Gelasio Semi Bold" pitchFamily="34" charset="0"/>
                <a:ea typeface="Gelasio Semi Bold" pitchFamily="34" charset="-122"/>
                <a:cs typeface="Gelasio Semi Bold" pitchFamily="34" charset="-120"/>
              </a:rPr>
              <a:t>CI/CD Pipeline</a:t>
            </a:r>
            <a:endParaRPr lang="en-US" sz="1900" dirty="0"/>
          </a:p>
        </p:txBody>
      </p:sp>
      <p:sp>
        <p:nvSpPr>
          <p:cNvPr id="17" name="Text 9"/>
          <p:cNvSpPr/>
          <p:nvPr/>
        </p:nvSpPr>
        <p:spPr>
          <a:xfrm>
            <a:off x="688062" y="5848945"/>
            <a:ext cx="4012883" cy="628888"/>
          </a:xfrm>
          <a:prstGeom prst="rect">
            <a:avLst/>
          </a:prstGeom>
          <a:noFill/>
          <a:ln/>
        </p:spPr>
        <p:txBody>
          <a:bodyPr wrap="square" lIns="0" tIns="0" rIns="0" bIns="0" rtlCol="0" anchor="t"/>
          <a:lstStyle/>
          <a:p>
            <a:pPr algn="r" indent="0" marL="0">
              <a:lnSpc>
                <a:spcPts val="2450"/>
              </a:lnSpc>
              <a:buNone/>
            </a:pPr>
            <a:r>
              <a:rPr lang="en-US" sz="1500" dirty="0">
                <a:solidFill>
                  <a:srgbClr val="746558"/>
                </a:solidFill>
                <a:latin typeface="Gelasio" pitchFamily="34" charset="0"/>
                <a:ea typeface="Gelasio" pitchFamily="34" charset="-122"/>
                <a:cs typeface="Gelasio" pitchFamily="34" charset="-120"/>
              </a:rPr>
              <a:t>Automated workflow using GitHub Actions and AWS ECR for seamless updates</a:t>
            </a:r>
            <a:endParaRPr lang="en-US" sz="1500" dirty="0"/>
          </a:p>
        </p:txBody>
      </p:sp>
      <p:pic>
        <p:nvPicPr>
          <p:cNvPr id="18" name="Image 6" descr="preencoded.png">    </p:cNvPr>
          <p:cNvPicPr>
            <a:picLocks noChangeAspect="1"/>
          </p:cNvPicPr>
          <p:nvPr/>
        </p:nvPicPr>
        <p:blipFill>
          <a:blip r:embed="rId7"/>
          <a:stretch>
            <a:fillRect/>
          </a:stretch>
        </p:blipFill>
        <p:spPr>
          <a:xfrm>
            <a:off x="4995743" y="2398038"/>
            <a:ext cx="4638913" cy="4638913"/>
          </a:xfrm>
          <a:prstGeom prst="rect">
            <a:avLst/>
          </a:prstGeom>
        </p:spPr>
      </p:pic>
      <p:pic>
        <p:nvPicPr>
          <p:cNvPr id="19" name="Image 7" descr="preencoded.png">    </p:cNvPr>
          <p:cNvPicPr>
            <a:picLocks noChangeAspect="1"/>
          </p:cNvPicPr>
          <p:nvPr/>
        </p:nvPicPr>
        <p:blipFill>
          <a:blip r:embed="rId8"/>
          <a:stretch>
            <a:fillRect/>
          </a:stretch>
        </p:blipFill>
        <p:spPr>
          <a:xfrm>
            <a:off x="5839778" y="5467231"/>
            <a:ext cx="294084" cy="367665"/>
          </a:xfrm>
          <a:prstGeom prst="rect">
            <a:avLst/>
          </a:prstGeom>
        </p:spPr>
      </p:pic>
      <p:sp>
        <p:nvSpPr>
          <p:cNvPr id="20" name="Text 10"/>
          <p:cNvSpPr/>
          <p:nvPr/>
        </p:nvSpPr>
        <p:spPr>
          <a:xfrm>
            <a:off x="688062" y="7258050"/>
            <a:ext cx="13254276" cy="628888"/>
          </a:xfrm>
          <a:prstGeom prst="rect">
            <a:avLst/>
          </a:prstGeom>
          <a:noFill/>
          <a:ln/>
        </p:spPr>
        <p:txBody>
          <a:bodyPr wrap="square" lIns="0" tIns="0" rIns="0" bIns="0" rtlCol="0" anchor="t"/>
          <a:lstStyle/>
          <a:p>
            <a:pPr algn="l" indent="0" marL="0">
              <a:lnSpc>
                <a:spcPts val="2450"/>
              </a:lnSpc>
              <a:buNone/>
            </a:pPr>
            <a:r>
              <a:rPr lang="en-US" sz="1500" dirty="0">
                <a:solidFill>
                  <a:srgbClr val="746558"/>
                </a:solidFill>
                <a:latin typeface="Gelasio" pitchFamily="34" charset="0"/>
                <a:ea typeface="Gelasio" pitchFamily="34" charset="-122"/>
                <a:cs typeface="Gelasio" pitchFamily="34" charset="-120"/>
              </a:rPr>
              <a:t>This architecture ensures that teams can access predictions regardless of their location, with consistent performance and reliability during the high-pressure environment of race weekends.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34246" y="642461"/>
            <a:ext cx="10454283" cy="566380"/>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Future Work: Expanding the Strategic Horizon</a:t>
            </a:r>
            <a:endParaRPr lang="en-US" sz="3550" dirty="0"/>
          </a:p>
        </p:txBody>
      </p:sp>
      <p:sp>
        <p:nvSpPr>
          <p:cNvPr id="3" name="Shape 1"/>
          <p:cNvSpPr/>
          <p:nvPr/>
        </p:nvSpPr>
        <p:spPr>
          <a:xfrm>
            <a:off x="634246" y="1571268"/>
            <a:ext cx="1670209" cy="1044178"/>
          </a:xfrm>
          <a:prstGeom prst="roundRect">
            <a:avLst>
              <a:gd name="adj" fmla="val 2604"/>
            </a:avLst>
          </a:prstGeom>
          <a:solidFill>
            <a:srgbClr val="EEE8DD"/>
          </a:solidFill>
          <a:ln/>
        </p:spPr>
      </p:sp>
      <p:pic>
        <p:nvPicPr>
          <p:cNvPr id="4" name="Image 0" descr="preencoded.png">    </p:cNvPr>
          <p:cNvPicPr>
            <a:picLocks noChangeAspect="1"/>
          </p:cNvPicPr>
          <p:nvPr/>
        </p:nvPicPr>
        <p:blipFill>
          <a:blip r:embed="rId1"/>
          <a:stretch>
            <a:fillRect/>
          </a:stretch>
        </p:blipFill>
        <p:spPr>
          <a:xfrm>
            <a:off x="1341953" y="1934051"/>
            <a:ext cx="254794" cy="318492"/>
          </a:xfrm>
          <a:prstGeom prst="rect">
            <a:avLst/>
          </a:prstGeom>
        </p:spPr>
      </p:pic>
      <p:sp>
        <p:nvSpPr>
          <p:cNvPr id="5" name="Text 2"/>
          <p:cNvSpPr/>
          <p:nvPr/>
        </p:nvSpPr>
        <p:spPr>
          <a:xfrm>
            <a:off x="2485668" y="1752481"/>
            <a:ext cx="3672959" cy="283131"/>
          </a:xfrm>
          <a:prstGeom prst="rect">
            <a:avLst/>
          </a:prstGeom>
          <a:noFill/>
          <a:ln/>
        </p:spPr>
        <p:txBody>
          <a:bodyPr wrap="none" lIns="0" tIns="0" rIns="0" bIns="0" rtlCol="0" anchor="t"/>
          <a:lstStyle/>
          <a:p>
            <a:pPr algn="l" indent="0" marL="0">
              <a:lnSpc>
                <a:spcPts val="2200"/>
              </a:lnSpc>
              <a:buNone/>
            </a:pPr>
            <a:r>
              <a:rPr lang="en-US" sz="1750" dirty="0">
                <a:solidFill>
                  <a:srgbClr val="746558"/>
                </a:solidFill>
                <a:latin typeface="Gelasio Semi Bold" pitchFamily="34" charset="0"/>
                <a:ea typeface="Gelasio Semi Bold" pitchFamily="34" charset="-122"/>
                <a:cs typeface="Gelasio Semi Bold" pitchFamily="34" charset="-120"/>
              </a:rPr>
              <a:t>Real-Time Telemetry Integration</a:t>
            </a:r>
            <a:endParaRPr lang="en-US" sz="1750" dirty="0"/>
          </a:p>
        </p:txBody>
      </p:sp>
      <p:sp>
        <p:nvSpPr>
          <p:cNvPr id="6" name="Text 3"/>
          <p:cNvSpPr/>
          <p:nvPr/>
        </p:nvSpPr>
        <p:spPr>
          <a:xfrm>
            <a:off x="2485668" y="2144316"/>
            <a:ext cx="3672959" cy="289917"/>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Incorporate live car data feeds</a:t>
            </a:r>
            <a:endParaRPr lang="en-US" sz="1400" dirty="0"/>
          </a:p>
        </p:txBody>
      </p:sp>
      <p:sp>
        <p:nvSpPr>
          <p:cNvPr id="7" name="Shape 4"/>
          <p:cNvSpPr/>
          <p:nvPr/>
        </p:nvSpPr>
        <p:spPr>
          <a:xfrm>
            <a:off x="2395061" y="2605921"/>
            <a:ext cx="11510486" cy="11430"/>
          </a:xfrm>
          <a:prstGeom prst="roundRect">
            <a:avLst>
              <a:gd name="adj" fmla="val 237857"/>
            </a:avLst>
          </a:prstGeom>
          <a:solidFill>
            <a:srgbClr val="D4CEC3"/>
          </a:solidFill>
          <a:ln/>
        </p:spPr>
      </p:sp>
      <p:sp>
        <p:nvSpPr>
          <p:cNvPr id="8" name="Shape 5"/>
          <p:cNvSpPr/>
          <p:nvPr/>
        </p:nvSpPr>
        <p:spPr>
          <a:xfrm>
            <a:off x="634246" y="2706053"/>
            <a:ext cx="3340418" cy="1044178"/>
          </a:xfrm>
          <a:prstGeom prst="roundRect">
            <a:avLst>
              <a:gd name="adj" fmla="val 2604"/>
            </a:avLst>
          </a:prstGeom>
          <a:solidFill>
            <a:srgbClr val="EEE8DD"/>
          </a:solidFill>
          <a:ln/>
        </p:spPr>
      </p:sp>
      <p:pic>
        <p:nvPicPr>
          <p:cNvPr id="9" name="Image 1" descr="preencoded.png">    </p:cNvPr>
          <p:cNvPicPr>
            <a:picLocks noChangeAspect="1"/>
          </p:cNvPicPr>
          <p:nvPr/>
        </p:nvPicPr>
        <p:blipFill>
          <a:blip r:embed="rId2"/>
          <a:stretch>
            <a:fillRect/>
          </a:stretch>
        </p:blipFill>
        <p:spPr>
          <a:xfrm>
            <a:off x="2177058" y="3068836"/>
            <a:ext cx="254794" cy="318492"/>
          </a:xfrm>
          <a:prstGeom prst="rect">
            <a:avLst/>
          </a:prstGeom>
        </p:spPr>
      </p:pic>
      <p:sp>
        <p:nvSpPr>
          <p:cNvPr id="10" name="Text 6"/>
          <p:cNvSpPr/>
          <p:nvPr/>
        </p:nvSpPr>
        <p:spPr>
          <a:xfrm>
            <a:off x="4155877" y="2887266"/>
            <a:ext cx="2796659" cy="283131"/>
          </a:xfrm>
          <a:prstGeom prst="rect">
            <a:avLst/>
          </a:prstGeom>
          <a:noFill/>
          <a:ln/>
        </p:spPr>
        <p:txBody>
          <a:bodyPr wrap="none" lIns="0" tIns="0" rIns="0" bIns="0" rtlCol="0" anchor="t"/>
          <a:lstStyle/>
          <a:p>
            <a:pPr algn="l" indent="0" marL="0">
              <a:lnSpc>
                <a:spcPts val="2200"/>
              </a:lnSpc>
              <a:buNone/>
            </a:pPr>
            <a:r>
              <a:rPr lang="en-US" sz="1750" dirty="0">
                <a:solidFill>
                  <a:srgbClr val="746558"/>
                </a:solidFill>
                <a:latin typeface="Gelasio Semi Bold" pitchFamily="34" charset="0"/>
                <a:ea typeface="Gelasio Semi Bold" pitchFamily="34" charset="-122"/>
                <a:cs typeface="Gelasio Semi Bold" pitchFamily="34" charset="-120"/>
              </a:rPr>
              <a:t>Driver-Specific Modeling</a:t>
            </a:r>
            <a:endParaRPr lang="en-US" sz="1750" dirty="0"/>
          </a:p>
        </p:txBody>
      </p:sp>
      <p:sp>
        <p:nvSpPr>
          <p:cNvPr id="11" name="Text 7"/>
          <p:cNvSpPr/>
          <p:nvPr/>
        </p:nvSpPr>
        <p:spPr>
          <a:xfrm>
            <a:off x="4155877" y="3279100"/>
            <a:ext cx="3832503" cy="289917"/>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Personalized predictions based on driving styles</a:t>
            </a:r>
            <a:endParaRPr lang="en-US" sz="1400" dirty="0"/>
          </a:p>
        </p:txBody>
      </p:sp>
      <p:sp>
        <p:nvSpPr>
          <p:cNvPr id="12" name="Shape 8"/>
          <p:cNvSpPr/>
          <p:nvPr/>
        </p:nvSpPr>
        <p:spPr>
          <a:xfrm>
            <a:off x="4065270" y="3740706"/>
            <a:ext cx="9840277" cy="11430"/>
          </a:xfrm>
          <a:prstGeom prst="roundRect">
            <a:avLst>
              <a:gd name="adj" fmla="val 237857"/>
            </a:avLst>
          </a:prstGeom>
          <a:solidFill>
            <a:srgbClr val="D4CEC3"/>
          </a:solidFill>
          <a:ln/>
        </p:spPr>
      </p:sp>
      <p:sp>
        <p:nvSpPr>
          <p:cNvPr id="13" name="Shape 9"/>
          <p:cNvSpPr/>
          <p:nvPr/>
        </p:nvSpPr>
        <p:spPr>
          <a:xfrm>
            <a:off x="634246" y="3840837"/>
            <a:ext cx="5010626" cy="1044178"/>
          </a:xfrm>
          <a:prstGeom prst="roundRect">
            <a:avLst>
              <a:gd name="adj" fmla="val 2604"/>
            </a:avLst>
          </a:prstGeom>
          <a:solidFill>
            <a:srgbClr val="EEE8DD"/>
          </a:solidFill>
          <a:ln/>
        </p:spPr>
      </p:sp>
      <p:pic>
        <p:nvPicPr>
          <p:cNvPr id="14" name="Image 2" descr="preencoded.png">    </p:cNvPr>
          <p:cNvPicPr>
            <a:picLocks noChangeAspect="1"/>
          </p:cNvPicPr>
          <p:nvPr/>
        </p:nvPicPr>
        <p:blipFill>
          <a:blip r:embed="rId3"/>
          <a:stretch>
            <a:fillRect/>
          </a:stretch>
        </p:blipFill>
        <p:spPr>
          <a:xfrm>
            <a:off x="3012162" y="4203621"/>
            <a:ext cx="254794" cy="318492"/>
          </a:xfrm>
          <a:prstGeom prst="rect">
            <a:avLst/>
          </a:prstGeom>
        </p:spPr>
      </p:pic>
      <p:sp>
        <p:nvSpPr>
          <p:cNvPr id="15" name="Text 10"/>
          <p:cNvSpPr/>
          <p:nvPr/>
        </p:nvSpPr>
        <p:spPr>
          <a:xfrm>
            <a:off x="5826085" y="4022050"/>
            <a:ext cx="2367082" cy="283131"/>
          </a:xfrm>
          <a:prstGeom prst="rect">
            <a:avLst/>
          </a:prstGeom>
          <a:noFill/>
          <a:ln/>
        </p:spPr>
        <p:txBody>
          <a:bodyPr wrap="none" lIns="0" tIns="0" rIns="0" bIns="0" rtlCol="0" anchor="t"/>
          <a:lstStyle/>
          <a:p>
            <a:pPr algn="l" indent="0" marL="0">
              <a:lnSpc>
                <a:spcPts val="2200"/>
              </a:lnSpc>
              <a:buNone/>
            </a:pPr>
            <a:r>
              <a:rPr lang="en-US" sz="1750" dirty="0">
                <a:solidFill>
                  <a:srgbClr val="746558"/>
                </a:solidFill>
                <a:latin typeface="Gelasio Semi Bold" pitchFamily="34" charset="0"/>
                <a:ea typeface="Gelasio Semi Bold" pitchFamily="34" charset="-122"/>
                <a:cs typeface="Gelasio Semi Bold" pitchFamily="34" charset="-120"/>
              </a:rPr>
              <a:t>Race Event Response</a:t>
            </a:r>
            <a:endParaRPr lang="en-US" sz="1750" dirty="0"/>
          </a:p>
        </p:txBody>
      </p:sp>
      <p:sp>
        <p:nvSpPr>
          <p:cNvPr id="16" name="Text 11"/>
          <p:cNvSpPr/>
          <p:nvPr/>
        </p:nvSpPr>
        <p:spPr>
          <a:xfrm>
            <a:off x="5826085" y="4413885"/>
            <a:ext cx="3409117" cy="289917"/>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Safety car and weather change adaptations</a:t>
            </a:r>
            <a:endParaRPr lang="en-US" sz="1400" dirty="0"/>
          </a:p>
        </p:txBody>
      </p:sp>
      <p:sp>
        <p:nvSpPr>
          <p:cNvPr id="17" name="Shape 12"/>
          <p:cNvSpPr/>
          <p:nvPr/>
        </p:nvSpPr>
        <p:spPr>
          <a:xfrm>
            <a:off x="5735479" y="4875490"/>
            <a:ext cx="8170069" cy="11430"/>
          </a:xfrm>
          <a:prstGeom prst="roundRect">
            <a:avLst>
              <a:gd name="adj" fmla="val 237857"/>
            </a:avLst>
          </a:prstGeom>
          <a:solidFill>
            <a:srgbClr val="D4CEC3"/>
          </a:solidFill>
          <a:ln/>
        </p:spPr>
      </p:sp>
      <p:sp>
        <p:nvSpPr>
          <p:cNvPr id="18" name="Shape 13"/>
          <p:cNvSpPr/>
          <p:nvPr/>
        </p:nvSpPr>
        <p:spPr>
          <a:xfrm>
            <a:off x="634246" y="4975622"/>
            <a:ext cx="6680954" cy="1044178"/>
          </a:xfrm>
          <a:prstGeom prst="roundRect">
            <a:avLst>
              <a:gd name="adj" fmla="val 2604"/>
            </a:avLst>
          </a:prstGeom>
          <a:solidFill>
            <a:srgbClr val="EEE8DD"/>
          </a:solidFill>
          <a:ln/>
        </p:spPr>
      </p:sp>
      <p:pic>
        <p:nvPicPr>
          <p:cNvPr id="19" name="Image 3" descr="preencoded.png">    </p:cNvPr>
          <p:cNvPicPr>
            <a:picLocks noChangeAspect="1"/>
          </p:cNvPicPr>
          <p:nvPr/>
        </p:nvPicPr>
        <p:blipFill>
          <a:blip r:embed="rId4"/>
          <a:stretch>
            <a:fillRect/>
          </a:stretch>
        </p:blipFill>
        <p:spPr>
          <a:xfrm>
            <a:off x="3847267" y="5338405"/>
            <a:ext cx="254794" cy="318492"/>
          </a:xfrm>
          <a:prstGeom prst="rect">
            <a:avLst/>
          </a:prstGeom>
        </p:spPr>
      </p:pic>
      <p:sp>
        <p:nvSpPr>
          <p:cNvPr id="20" name="Text 14"/>
          <p:cNvSpPr/>
          <p:nvPr/>
        </p:nvSpPr>
        <p:spPr>
          <a:xfrm>
            <a:off x="7496413" y="5156835"/>
            <a:ext cx="2491978" cy="283131"/>
          </a:xfrm>
          <a:prstGeom prst="rect">
            <a:avLst/>
          </a:prstGeom>
          <a:noFill/>
          <a:ln/>
        </p:spPr>
        <p:txBody>
          <a:bodyPr wrap="none" lIns="0" tIns="0" rIns="0" bIns="0" rtlCol="0" anchor="t"/>
          <a:lstStyle/>
          <a:p>
            <a:pPr algn="l" indent="0" marL="0">
              <a:lnSpc>
                <a:spcPts val="2200"/>
              </a:lnSpc>
              <a:buNone/>
            </a:pPr>
            <a:r>
              <a:rPr lang="en-US" sz="1750" dirty="0">
                <a:solidFill>
                  <a:srgbClr val="746558"/>
                </a:solidFill>
                <a:latin typeface="Gelasio Semi Bold" pitchFamily="34" charset="0"/>
                <a:ea typeface="Gelasio Semi Bold" pitchFamily="34" charset="-122"/>
                <a:cs typeface="Gelasio Semi Bold" pitchFamily="34" charset="-120"/>
              </a:rPr>
              <a:t>Team Dashboard APIs</a:t>
            </a:r>
            <a:endParaRPr lang="en-US" sz="1750" dirty="0"/>
          </a:p>
        </p:txBody>
      </p:sp>
      <p:sp>
        <p:nvSpPr>
          <p:cNvPr id="21" name="Text 15"/>
          <p:cNvSpPr/>
          <p:nvPr/>
        </p:nvSpPr>
        <p:spPr>
          <a:xfrm>
            <a:off x="7496413" y="5548670"/>
            <a:ext cx="2925366" cy="289917"/>
          </a:xfrm>
          <a:prstGeom prst="rect">
            <a:avLst/>
          </a:prstGeom>
          <a:noFill/>
          <a:ln/>
        </p:spPr>
        <p:txBody>
          <a:bodyPr wrap="non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Direct integration with existing tools</a:t>
            </a:r>
            <a:endParaRPr lang="en-US" sz="1400" dirty="0"/>
          </a:p>
        </p:txBody>
      </p:sp>
      <p:sp>
        <p:nvSpPr>
          <p:cNvPr id="22" name="Text 16"/>
          <p:cNvSpPr/>
          <p:nvPr/>
        </p:nvSpPr>
        <p:spPr>
          <a:xfrm>
            <a:off x="634246" y="6223635"/>
            <a:ext cx="13361908" cy="579834"/>
          </a:xfrm>
          <a:prstGeom prst="rect">
            <a:avLst/>
          </a:prstGeom>
          <a:noFill/>
          <a:ln/>
        </p:spPr>
        <p:txBody>
          <a:bodyPr wrap="squar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Our roadmap for future development focuses on deeper integration with team systems and more nuanced prediction capabilities. By incorporating real-time telemetry data and driver-specific behavioral models, we aim to create an even more precise strategic tool that responds dynamically to changing race conditions.</a:t>
            </a:r>
            <a:endParaRPr lang="en-US" sz="1400" dirty="0"/>
          </a:p>
        </p:txBody>
      </p:sp>
      <p:sp>
        <p:nvSpPr>
          <p:cNvPr id="23" name="Text 17"/>
          <p:cNvSpPr/>
          <p:nvPr/>
        </p:nvSpPr>
        <p:spPr>
          <a:xfrm>
            <a:off x="634246" y="7007304"/>
            <a:ext cx="13361908" cy="579834"/>
          </a:xfrm>
          <a:prstGeom prst="rect">
            <a:avLst/>
          </a:prstGeom>
          <a:noFill/>
          <a:ln/>
        </p:spPr>
        <p:txBody>
          <a:bodyPr wrap="square" lIns="0" tIns="0" rIns="0" bIns="0" rtlCol="0" anchor="t"/>
          <a:lstStyle/>
          <a:p>
            <a:pPr algn="l" indent="0" marL="0">
              <a:lnSpc>
                <a:spcPts val="2250"/>
              </a:lnSpc>
              <a:buNone/>
            </a:pPr>
            <a:r>
              <a:rPr lang="en-US" sz="1400" dirty="0">
                <a:solidFill>
                  <a:srgbClr val="746558"/>
                </a:solidFill>
                <a:latin typeface="Gelasio" pitchFamily="34" charset="0"/>
                <a:ea typeface="Gelasio" pitchFamily="34" charset="-122"/>
                <a:cs typeface="Gelasio" pitchFamily="34" charset="-120"/>
              </a:rPr>
              <a:t>The next generation of our system will also account for pit crew performance metrics and simulate the impact of unpredictable race events, providing teams with comprehensive strategy scenarios.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00877"/>
            <a:ext cx="12925901" cy="708779"/>
          </a:xfrm>
          <a:prstGeom prst="rect">
            <a:avLst/>
          </a:prstGeom>
          <a:noFill/>
          <a:ln/>
        </p:spPr>
        <p:txBody>
          <a:bodyPr wrap="non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Conclusion: The Future of Data-Driven Racing</a:t>
            </a:r>
            <a:endParaRPr lang="en-US" sz="4450" dirty="0"/>
          </a:p>
        </p:txBody>
      </p:sp>
      <p:sp>
        <p:nvSpPr>
          <p:cNvPr id="3" name="Shape 1"/>
          <p:cNvSpPr/>
          <p:nvPr/>
        </p:nvSpPr>
        <p:spPr>
          <a:xfrm>
            <a:off x="793790" y="2463284"/>
            <a:ext cx="4196358" cy="3121462"/>
          </a:xfrm>
          <a:prstGeom prst="roundRect">
            <a:avLst>
              <a:gd name="adj" fmla="val 1090"/>
            </a:avLst>
          </a:prstGeom>
          <a:solidFill>
            <a:srgbClr val="EEE8DD"/>
          </a:solidFill>
          <a:ln/>
        </p:spPr>
      </p:sp>
      <p:sp>
        <p:nvSpPr>
          <p:cNvPr id="4" name="Text 2"/>
          <p:cNvSpPr/>
          <p:nvPr/>
        </p:nvSpPr>
        <p:spPr>
          <a:xfrm>
            <a:off x="1020604" y="2690098"/>
            <a:ext cx="2848689" cy="354330"/>
          </a:xfrm>
          <a:prstGeom prst="rect">
            <a:avLst/>
          </a:prstGeom>
          <a:noFill/>
          <a:ln/>
        </p:spPr>
        <p:txBody>
          <a:bodyPr wrap="none" lIns="0" tIns="0" rIns="0" bIns="0" rtlCol="0" anchor="t"/>
          <a:lstStyle/>
          <a:p>
            <a:pPr algn="l" indent="0" marL="0">
              <a:lnSpc>
                <a:spcPts val="2750"/>
              </a:lnSpc>
              <a:buNone/>
            </a:pPr>
            <a:r>
              <a:rPr lang="en-US" sz="2200" dirty="0">
                <a:solidFill>
                  <a:srgbClr val="746558"/>
                </a:solidFill>
                <a:latin typeface="Gelasio Semi Bold" pitchFamily="34" charset="0"/>
                <a:ea typeface="Gelasio Semi Bold" pitchFamily="34" charset="-122"/>
                <a:cs typeface="Gelasio Semi Bold" pitchFamily="34" charset="-120"/>
              </a:rPr>
              <a:t>Strategic Revolution</a:t>
            </a:r>
            <a:endParaRPr lang="en-US" sz="2200" dirty="0"/>
          </a:p>
        </p:txBody>
      </p:sp>
      <p:sp>
        <p:nvSpPr>
          <p:cNvPr id="5" name="Text 3"/>
          <p:cNvSpPr/>
          <p:nvPr/>
        </p:nvSpPr>
        <p:spPr>
          <a:xfrm>
            <a:off x="1020604" y="3180517"/>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The F1 Pitstop Prediction Project demonstrates how artificial intelligence can transform traditional racing strategy approaches, bringing data-driven precision to critical decisions.</a:t>
            </a:r>
            <a:endParaRPr lang="en-US" sz="1750" dirty="0"/>
          </a:p>
        </p:txBody>
      </p:sp>
      <p:sp>
        <p:nvSpPr>
          <p:cNvPr id="6" name="Shape 4"/>
          <p:cNvSpPr/>
          <p:nvPr/>
        </p:nvSpPr>
        <p:spPr>
          <a:xfrm>
            <a:off x="5216962" y="2463284"/>
            <a:ext cx="4196358" cy="3121462"/>
          </a:xfrm>
          <a:prstGeom prst="roundRect">
            <a:avLst>
              <a:gd name="adj" fmla="val 1090"/>
            </a:avLst>
          </a:prstGeom>
          <a:solidFill>
            <a:srgbClr val="EEE8DD"/>
          </a:solidFill>
          <a:ln/>
        </p:spPr>
      </p:sp>
      <p:sp>
        <p:nvSpPr>
          <p:cNvPr id="7" name="Text 5"/>
          <p:cNvSpPr/>
          <p:nvPr/>
        </p:nvSpPr>
        <p:spPr>
          <a:xfrm>
            <a:off x="5443776" y="2690098"/>
            <a:ext cx="3128843" cy="354330"/>
          </a:xfrm>
          <a:prstGeom prst="rect">
            <a:avLst/>
          </a:prstGeom>
          <a:noFill/>
          <a:ln/>
        </p:spPr>
        <p:txBody>
          <a:bodyPr wrap="none" lIns="0" tIns="0" rIns="0" bIns="0" rtlCol="0" anchor="t"/>
          <a:lstStyle/>
          <a:p>
            <a:pPr algn="l" indent="0" marL="0">
              <a:lnSpc>
                <a:spcPts val="2750"/>
              </a:lnSpc>
              <a:buNone/>
            </a:pPr>
            <a:r>
              <a:rPr lang="en-US" sz="2200" dirty="0">
                <a:solidFill>
                  <a:srgbClr val="746558"/>
                </a:solidFill>
                <a:latin typeface="Gelasio Semi Bold" pitchFamily="34" charset="0"/>
                <a:ea typeface="Gelasio Semi Bold" pitchFamily="34" charset="-122"/>
                <a:cs typeface="Gelasio Semi Bold" pitchFamily="34" charset="-120"/>
              </a:rPr>
              <a:t>Ready for Deployment</a:t>
            </a:r>
            <a:endParaRPr lang="en-US" sz="2200" dirty="0"/>
          </a:p>
        </p:txBody>
      </p:sp>
      <p:sp>
        <p:nvSpPr>
          <p:cNvPr id="8" name="Text 6"/>
          <p:cNvSpPr/>
          <p:nvPr/>
        </p:nvSpPr>
        <p:spPr>
          <a:xfrm>
            <a:off x="5443776" y="3180517"/>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Our solution is fully operational, thoroughly tested, and deployed in a scalable cloud environment, making it immediately accessible to racing teams seeking a competitive edge.</a:t>
            </a:r>
            <a:endParaRPr lang="en-US" sz="1750" dirty="0"/>
          </a:p>
        </p:txBody>
      </p:sp>
      <p:sp>
        <p:nvSpPr>
          <p:cNvPr id="9" name="Shape 7"/>
          <p:cNvSpPr/>
          <p:nvPr/>
        </p:nvSpPr>
        <p:spPr>
          <a:xfrm>
            <a:off x="9640133" y="2463284"/>
            <a:ext cx="4196358" cy="3121462"/>
          </a:xfrm>
          <a:prstGeom prst="roundRect">
            <a:avLst>
              <a:gd name="adj" fmla="val 1090"/>
            </a:avLst>
          </a:prstGeom>
          <a:solidFill>
            <a:srgbClr val="EEE8DD"/>
          </a:solidFill>
          <a:ln/>
        </p:spPr>
      </p:sp>
      <p:sp>
        <p:nvSpPr>
          <p:cNvPr id="10" name="Text 8"/>
          <p:cNvSpPr/>
          <p:nvPr/>
        </p:nvSpPr>
        <p:spPr>
          <a:xfrm>
            <a:off x="9866948" y="2690098"/>
            <a:ext cx="3181588" cy="354330"/>
          </a:xfrm>
          <a:prstGeom prst="rect">
            <a:avLst/>
          </a:prstGeom>
          <a:noFill/>
          <a:ln/>
        </p:spPr>
        <p:txBody>
          <a:bodyPr wrap="none" lIns="0" tIns="0" rIns="0" bIns="0" rtlCol="0" anchor="t"/>
          <a:lstStyle/>
          <a:p>
            <a:pPr algn="l" indent="0" marL="0">
              <a:lnSpc>
                <a:spcPts val="2750"/>
              </a:lnSpc>
              <a:buNone/>
            </a:pPr>
            <a:r>
              <a:rPr lang="en-US" sz="2200" dirty="0">
                <a:solidFill>
                  <a:srgbClr val="746558"/>
                </a:solidFill>
                <a:latin typeface="Gelasio Semi Bold" pitchFamily="34" charset="0"/>
                <a:ea typeface="Gelasio Semi Bold" pitchFamily="34" charset="-122"/>
                <a:cs typeface="Gelasio Semi Bold" pitchFamily="34" charset="-120"/>
              </a:rPr>
              <a:t>Measurable Advantage</a:t>
            </a:r>
            <a:endParaRPr lang="en-US" sz="2200" dirty="0"/>
          </a:p>
        </p:txBody>
      </p:sp>
      <p:sp>
        <p:nvSpPr>
          <p:cNvPr id="11" name="Text 9"/>
          <p:cNvSpPr/>
          <p:nvPr/>
        </p:nvSpPr>
        <p:spPr>
          <a:xfrm>
            <a:off x="9866948" y="3180517"/>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With potential time savings of several seconds per race, our system provides the marginal gains that separate champions from competitors in the ultra-competitive world of Formula 1.</a:t>
            </a:r>
            <a:endParaRPr lang="en-US" sz="1750" dirty="0"/>
          </a:p>
        </p:txBody>
      </p:sp>
      <p:sp>
        <p:nvSpPr>
          <p:cNvPr id="12" name="Text 10"/>
          <p:cNvSpPr/>
          <p:nvPr/>
        </p:nvSpPr>
        <p:spPr>
          <a:xfrm>
            <a:off x="793790" y="5839897"/>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The F1 Pitstop Prediction Project represents just the beginning of what's possible when advanced machine learning techniques are applied to motorsport strategy. As the technology evolves and integrates more deeply with team operations, we anticipate an entirely new paradigm of racing where human intuition and artificial intelligence work in harmony to achieve peak performance.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2025-04-28T14:23:16Z</dcterms:created>
  <dcterms:modified xsi:type="dcterms:W3CDTF">2025-04-28T14:23:16Z</dcterms:modified>
</cp:coreProperties>
</file>